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criterio 1 · expone A] Presentarse los dos. Una frase: el día en que la orden se libera, predecir si cada posición llegará tarde. Las tres direcciones quedan en pantalla; el tablero se abre al final si hay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 · criterio 1 · expone A] Problema, unidad, x, y, p(x) y el umbral. Insistir: el umbral sale de 2025; la prueba 2026 se mira una vez. Por qué binaria: la decisión es binaria.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· criterio 2 · expone A] Fuente y estructura. La unidad independiente es la orden: por eso los pliegues se agrupan por orden. La partición es cronológica.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· criterio 2 · expone A] Lo más importante: ninguna variable sola es sospechosa (máximo 0,732) y los vacíos son estructurales, con su mecanismo. Los atípicos llegan más tarde: son información.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· criterio 2 · expone A] Tres pruebas de que el tiempo importa: la serie no es estacionaria, hay entidades nuevas y la validación adversaria reconoce el año. Fuga: la codificación por objetivo va fuera de pliegue y agrupada por orden, y se descartaron las variables registradas después de la liberación.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3 · expone B] Boosting: descenso por gradiente en el espacio de funciones. Derivar en voz alta g y h de la log-pérdida: dℓ/dF = p − y; d²ℓ/dF² = p(1 − p). Es lo que más preguntan.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3 · expone B] w* = −G/(H + λ) sale de derivar la parábola e igualar a cero. La ganancia compara la pérdida óptima de las dos hojas hijas con la de la madre; γ es el costo de una hoja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3 · expone B] Cada hiperparámetro y dónde vive en la fórmula. Complejidad: teoría y medición coinciden; el exponente 0,91 en log-log es casi lineal. Supuesto clave: independencia dado 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Validación anidada: el externo mide, el interno elige. La prueba 2026 no entra. Mismo presupuesto para comparar optimizadores de forma justa. Reproducibilidad: pruebas y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 · criterio 4 · expone B] Lectura: con poco presupuesto conviene Optuna; con 20 evaluaciones la superficie es plana cerca del óptimo y los cuatro terminan a milésimas. El balanceo tampoco cambia el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A] Media y desviación del bucle externo, 8 semestres. Ser precisos con las pruebas: Friedman rechaza la igualdad; Nemenyi es conservador y no separa a los tres primeros; el Wilcoxon pareado con Holm sí, porque XGBoost gana en cada bloque. La ganancia es de una centésima de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5 · expone B] Sobreajuste en dos vistas: interno contra externo por bloque y la curva de aprendizaje. Lo que falta del análisis de errores depende de la evaluación final en 2026; no se adelanta.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criterio 6 · expone A] Responder la pregunta con cifras y decir los límites sin rodeos. Mejoras: el modelo original del Entregable 3 ataca el arranque en frío y usa los días de retraso.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· criterio 7 · expone A y B] Preparar: derivar g, h y w*; por qué la codificación va fuera de pliegue; por qué la prueba no elige nada; por qué Nemenyi y Wilcoxon dicen cosas distintas; qué pasa con un proveedor nuevo.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68000" cy="51444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8000" y="1872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UNIVERSIDAD DEL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Maestría en Estadística Aplicada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D9E2D2"/>
                </a:solidFill>
                <a:latin typeface="Calibri"/>
              </a:rPr>
              <a:t>Machine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68000" y="3816000"/>
            <a:ext cx="64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3996000"/>
            <a:ext cx="2448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Daniel Carbonó Domínguez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Luis Pérez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4536000"/>
            <a:ext cx="2448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9E2D2"/>
                </a:solidFill>
                <a:latin typeface="Calibri"/>
              </a:rPr>
              <a:t>Octubre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936000"/>
            <a:ext cx="48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ENTREGABLE 2  ·  CLASIFICACIÓN BINARIA SUPERVISADA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1332000"/>
            <a:ext cx="5184000" cy="151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Predicción del incumplimiento de órdenes de compra en la agroindustria de la palma de aceite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0" y="2916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0" y="3096000"/>
            <a:ext cx="504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5A5A"/>
                </a:solidFill>
                <a:latin typeface="Calibri"/>
              </a:rPr>
              <a:t>406.126 posiciones de 104.614 órdenes de compra, 2021-2026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0" y="3744000"/>
            <a:ext cx="504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C8C8C"/>
                </a:solidFill>
                <a:latin typeface="Calibri"/>
              </a:rPr>
              <a:t>Tablero         otif-compras-ml.onrender.com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Uno de cada tres pedidos llega tarde, y se sabe cuando ya pasó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1  ·  PROBLEMA Y FORMULACIÓN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224000"/>
            <a:ext cx="1944000" cy="9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22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000" y="135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33,0 %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85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de las posiciones llega tarde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000" y="2304000"/>
            <a:ext cx="1944000" cy="972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8000" y="2304000"/>
            <a:ext cx="176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30000"/>
            <a:ext cx="1944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405731"/>
                </a:solidFill>
                <a:latin typeface="Calibri"/>
              </a:rPr>
              <a:t>1 día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" y="2934000"/>
            <a:ext cx="194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A5A5A"/>
                </a:solidFill>
                <a:latin typeface="Calibri"/>
              </a:rPr>
              <a:t>hábil de tolerancia sobre la fecha prometida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3384000"/>
            <a:ext cx="1944000" cy="1332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00" y="3492000"/>
            <a:ext cx="16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" y="3751200"/>
            <a:ext cx="1620000" cy="91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Ordenar las posiciones por riesgo el día de la liberación y señalar cuáles seguir primero.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6000" y="1188000"/>
            <a:ext cx="32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Unidad: la posición i de una orden</a:t>
            </a:r>
          </a:p>
        </p:txBody>
      </p:sp>
      <p:pic>
        <p:nvPicPr>
          <p:cNvPr id="21" name="Picture 20" descr="f_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2000" y="1475999"/>
            <a:ext cx="1763061" cy="27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736000" y="1782000"/>
            <a:ext cx="324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x: 136 predictoras conocidas el día t en que la orden sale al proveedor. y = 1 si la primera entrada llega más de 1 día hábil después de la fecha prometida.</a:t>
            </a:r>
          </a:p>
        </p:txBody>
      </p:sp>
      <p:pic>
        <p:nvPicPr>
          <p:cNvPr id="23" name="Picture 22" descr="f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000" y="2484000"/>
            <a:ext cx="3042000" cy="27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736000" y="2808000"/>
            <a:ext cx="3240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Se estima la probabilidad p(x) y se decide con un umbral τ, elegido en la validación 2025 maximizando F1; la prueba 2026 no elige nada.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6000" y="3420000"/>
            <a:ext cx="32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Por qué clasificación binaria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6000" y="3671999"/>
            <a:ext cx="3240000" cy="104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La decisión del comprador es una sola: hacerle seguimiento a la orden o no. Los días de retraso tienen colas largas y se usan como contexto, no como objetivo.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999" y="1224000"/>
            <a:ext cx="2448000" cy="3491999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5999" y="1332000"/>
            <a:ext cx="21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Objetivos específicos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5999" y="1591200"/>
            <a:ext cx="2124000" cy="307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1. Comparar 7 modelos × 4 formas de balancear × 4 optimizadores con el mismo presupuesto.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2. Medir cuánto cuesta decidir con entidades nuevas: proveedor o material sin historia.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3. Dejar el modelo servido en un tablero con la predicción en vivo.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1 y 2a (definición de la etiqueta y de la población)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SAP a 406.126 posiciones con una etiqueta y 136 predictoras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FUENTE, ESTRUCTURA Y PARTICIÓN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SAP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compras 2021-2026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42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2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490.310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2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posiciones con plazo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6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6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406.126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6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población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0000" y="1188000"/>
            <a:ext cx="1512000" cy="684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90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etiqueta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90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&gt; 1 día hábil tarde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4000" y="1188000"/>
            <a:ext cx="1512000" cy="684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000" y="1260000"/>
            <a:ext cx="151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405731"/>
                </a:solidFill>
                <a:latin typeface="Calibri"/>
              </a:rPr>
              <a:t>136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4000" y="1565999"/>
            <a:ext cx="1512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5A5A"/>
                </a:solidFill>
                <a:latin typeface="Calibri"/>
              </a:rPr>
              <a:t>predictoras al liberar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68000" y="2088000"/>
          <a:ext cx="4679998" cy="12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150"/>
                <a:gridCol w="1159646"/>
                <a:gridCol w="993982"/>
                <a:gridCol w="911150"/>
                <a:gridCol w="704070"/>
              </a:tblGrid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partición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uso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posiciones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órdenes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2021-2024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entrenar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271.391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70.233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34,0 %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elegir umbral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82.794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21.797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30,8 %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probar una vez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51.941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12.584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31,5 %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400000" y="2088000"/>
            <a:ext cx="3311999" cy="259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000" y="219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Las 136 predictoras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2000" y="2455200"/>
            <a:ext cx="2987999" cy="21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83 numéricas: plazo, valor, liberación, historial del proveedor, stock, tasa de cambio.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42 categóricas de pocos valores: línea, clase, moneda, tipo de material.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11 entidades: proveedor, material, comprador, liberador, centro de costo y otras.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Solo lo que se conoce el día de la liberación.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000" y="3528000"/>
            <a:ext cx="4680000" cy="12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Las órdenes son la unidad independiente: 3,9 posiciones por orden. Ninguna orden cruza particiones y toda validación cruzada agrupa por orden.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La partición es por la fecha de la orden, no al azar (lámina 5).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2a (datos); diccionario de variables en data/diccionario.csv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Ninguna variable sola pasa de 0,75 de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DESCRIPTIVA, FALTANTES, ATÍPICOS Y RELACIONES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uc_univar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392000" cy="2378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48000" y="1188000"/>
            <a:ext cx="3564000" cy="1116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10000" y="1295999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Faltantes estructurales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0000" y="1555200"/>
            <a:ext cx="3240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7 variables con más de 50 % de vacíos, y no son azar: faltan porque la orden no tiene solicitud o no tiene imputación. Se marcan con indicadores tiene_* y se imputa la mediana.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48000" y="2376000"/>
            <a:ext cx="3564000" cy="1116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0000" y="2484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Atípicos (Isolation Forest)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0000" y="2743199"/>
            <a:ext cx="3240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40,4 % de tarde en las atípicas contra 33,7 % en el resto: son señal, no ruido, y no se borran.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48000" y="3563999"/>
            <a:ext cx="3564000" cy="1116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0000" y="3671999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Colas largas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0000" y="3931199"/>
            <a:ext cx="3240000" cy="70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Valor, cantidad y plazos son muy asimétricos: signo(x)·log(1 + |x|) antes de los modelos lineales; a los árboles no les cambia nada.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" y="3960000"/>
            <a:ext cx="4572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plazo hábil al liberar separa más (0,732): es la causa más directa del retraso y se conoce al liberar; no es fuga.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2b (EDA): resultados/eda/asociacion.csv, faltantes.csv, atipicos_if.csv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tiempo importa: partir al azar mediría con datos ya vistos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2  ·  TIEMPO Y FUGA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176000" cy="19342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8000" y="3240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No es estacionaria: ADF no rechaza la raíz unitaria (p = 0,70) y KPSS rechaza la estacionariedad (p = 0,026). Proveedores nuevos: 6,6 % en 2025 y 11,1 % en 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888000"/>
            <a:ext cx="417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Entidades: codificación fuera de pliegue, por orden</a:t>
            </a:r>
          </a:p>
        </p:txBody>
      </p:sp>
      <p:pic>
        <p:nvPicPr>
          <p:cNvPr id="12" name="Picture 11" descr="f_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4140000"/>
            <a:ext cx="4343999" cy="540000"/>
          </a:xfrm>
          <a:prstGeom prst="rect">
            <a:avLst/>
          </a:prstGeom>
        </p:spPr>
      </p:pic>
      <p:pic>
        <p:nvPicPr>
          <p:cNvPr id="13" name="Picture 12" descr="adversar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000" y="1152000"/>
            <a:ext cx="3888000" cy="167041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24000" y="2951999"/>
            <a:ext cx="3888000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Validación adversaria: un XGBoost intenta adivinar de qué conjunto viene cada posición.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  <a:latin typeface="Calibri"/>
              </a:rPr>
              <a:t>Al azar no puede (0,504). Por fecha acierta siempre (1,000), y sigue en 0,999 sin las variables que fechan la fila: muchas derivas pequeñas (IVA, región del centro, mezcla de líneas) bastan para reconocer el año.</a:t>
            </a:r>
          </a:p>
          <a:p>
            <a:pPr algn="l">
              <a:spcAft>
                <a:spcPts val="500"/>
              </a:spcAft>
            </a:pPr>
            <a:r>
              <a:rPr sz="1050" b="1">
                <a:solidFill>
                  <a:srgbClr val="405731"/>
                </a:solidFill>
                <a:latin typeface="Calibri"/>
              </a:rPr>
              <a:t>Por eso: partición cronológica, validación por ventanas crecientes y reentrenar con 2021-2025 antes de la prueba.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2c (tiempo y fuga): resultados/eda/ y resultados/similitud/auc.csv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suma árboles; cada uno es un paso de Newton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FORMULACIÓN, PÉRDIDA Y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El modelo: el log-odds es una suma de M árboles</a:t>
            </a:r>
          </a:p>
        </p:txBody>
      </p:sp>
      <p:pic>
        <p:nvPicPr>
          <p:cNvPr id="10" name="Picture 9" descr="f_mode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04000"/>
            <a:ext cx="2767578" cy="4139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1925999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La pérdida: log-pérdida (entropía cruzada binaria), convexa en F</a:t>
            </a:r>
          </a:p>
        </p:txBody>
      </p:sp>
      <p:pic>
        <p:nvPicPr>
          <p:cNvPr id="12" name="Picture 11" descr="f_perdi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2160000"/>
            <a:ext cx="3261418" cy="22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000" y="2520000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El objetivo del árbol m: pérdida más penalización de su complejidad</a:t>
            </a:r>
          </a:p>
        </p:txBody>
      </p:sp>
      <p:pic>
        <p:nvPicPr>
          <p:cNvPr id="14" name="Picture 13" descr="f_ob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2772000"/>
            <a:ext cx="2852645" cy="4139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8000" y="3311999"/>
            <a:ext cx="52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Taylor de segundo orden alrededor de la predicción actual</a:t>
            </a:r>
          </a:p>
        </p:txBody>
      </p:sp>
      <p:pic>
        <p:nvPicPr>
          <p:cNvPr id="16" name="Picture 15" descr="f_tayl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999" y="3564000"/>
            <a:ext cx="2982163" cy="360000"/>
          </a:xfrm>
          <a:prstGeom prst="rect">
            <a:avLst/>
          </a:prstGeom>
        </p:spPr>
      </p:pic>
      <p:pic>
        <p:nvPicPr>
          <p:cNvPr id="17" name="Picture 16" descr="f_g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3999" y="4068000"/>
            <a:ext cx="2322438" cy="2232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976000" y="1188000"/>
            <a:ext cx="2736000" cy="352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6000" y="1296000"/>
            <a:ext cx="2376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405731"/>
                </a:solidFill>
                <a:latin typeface="Calibri"/>
              </a:rPr>
              <a:t>Qué es cada término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56000" y="1706399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2000" y="1655999"/>
            <a:ext cx="2232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f_m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un árbol de regresión: reparte x en T hojas con pesos w_j.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6000" y="23004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2000" y="2250000"/>
            <a:ext cx="2232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σ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la logística: pasa el log-odds F a probabilidad.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000" y="28944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2000" y="2844000"/>
            <a:ext cx="2232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γ T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cobra por cada hoja; λ encoge los pesos hacia 0 (L2).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56000" y="34884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2000" y="3438000"/>
            <a:ext cx="2232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g_i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gradiente: el residuo con signo, p̂ − 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56000" y="40824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72000" y="4032000"/>
            <a:ext cx="2232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05731"/>
                </a:solidFill>
                <a:latin typeface="Calibri"/>
              </a:rPr>
              <a:t>h_i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hessiano: varianza de Bernoulli, alta donde el modelo duda.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 (fundamentos de XGBoost); Chen y Guestrin (2016), Friedman (2001)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Peso de hoja y ganancia de corte en forma cerrada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PRINCIPIO DE OPTIMIZACIÓN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Peso óptimo de la hoja j</a:t>
            </a:r>
          </a:p>
        </p:txBody>
      </p:sp>
      <p:pic>
        <p:nvPicPr>
          <p:cNvPr id="10" name="Picture 9" descr="f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422000"/>
            <a:ext cx="1377890" cy="4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000" y="2015999"/>
            <a:ext cx="39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Con G_j y H_j la suma de g y h en la hoja, la aproximación es una parábola en w_j: su mínimo es un paso de Newton, el gradiente sobre la curvatura, encogido por 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2736000"/>
            <a:ext cx="8243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Ganancia de partir una hoja en izquierda (L) y derecha (R): se corta solo si es positiva</a:t>
            </a:r>
          </a:p>
        </p:txBody>
      </p:sp>
      <p:pic>
        <p:nvPicPr>
          <p:cNvPr id="13" name="Picture 12" descr="f_gana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999" y="3006000"/>
            <a:ext cx="4671000" cy="4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000" y="363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405731"/>
                </a:solidFill>
                <a:latin typeface="Calibri"/>
              </a:rPr>
              <a:t>Paso corto: cada árbol entra encogido por la tasa de aprendizaje</a:t>
            </a:r>
          </a:p>
        </p:txBody>
      </p:sp>
      <p:pic>
        <p:nvPicPr>
          <p:cNvPr id="15" name="Picture 14" descr="f_e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999" y="3888000"/>
            <a:ext cx="1506079" cy="223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752000" y="1188000"/>
            <a:ext cx="3960000" cy="1440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3999" y="1295999"/>
            <a:ext cx="363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Búsqueda por histograma (hist)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3999" y="1555200"/>
            <a:ext cx="3636000" cy="10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predictora se discretiza en a lo sumo 256 tramos y la ganancia se evalúa solo en sus bordes: buscar el mejor corte es recorrer un histograma, no ordenar las filas.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3671999"/>
            <a:ext cx="3960000" cy="1007999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2000" y="3736799"/>
            <a:ext cx="3600000" cy="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405731"/>
                </a:solidFill>
                <a:latin typeface="Calibri"/>
              </a:rPr>
              <a:t>Contraste: la logística  </a:t>
            </a:r>
            <a:r>
              <a:rPr sz="1050" b="0">
                <a:solidFill>
                  <a:srgbClr val="1A1A1A"/>
                </a:solidFill>
                <a:latin typeface="Calibri"/>
              </a:rPr>
              <a:t>minimiza la misma log-pérdida con una sola recta, convexa y con un único óptimo. No ve interacciones ni umbrales sin construirlos; XGBoost los encuentra con los cortes.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7; Chen y Guestrin (2016)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ajuste crece casi lineal en n (exponente 0,91)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3  ·  SUPUESTOS, REGULARIZACIÓN, COMPLEJIDAD Y GENERALIZACIÓN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391999" cy="2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4000"/>
                <a:gridCol w="1033411"/>
                <a:gridCol w="1894588"/>
              </a:tblGrid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hiperparámetro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en la fórmula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qué controla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n_estimators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capacidad y costo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learning_rate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η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pasos cortos, mejor generalización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max_depth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 ≤ 2^D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interacciones de hasta D variables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min_child_weight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H_j ≥ c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hojas con suficiente evidencia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subsample, colsample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filas y columnas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azar que decorrelaciona árboles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reg_lambda, gamma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λ, γ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encoge pesos, cobra hojas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complej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000" y="1152000"/>
            <a:ext cx="3671999" cy="26746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68000" y="3348000"/>
            <a:ext cx="2664000" cy="1368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Supuestos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Filas independientes dado x (por eso los pliegues agrupan por orden); la relación de 2021-2025 sigue valiendo en 2026; no supone linealidad ni normalidad.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0" y="3348000"/>
            <a:ext cx="2664000" cy="136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999" y="3456000"/>
            <a:ext cx="23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Complejidad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999" y="3715200"/>
            <a:ext cx="2340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Ajuste O(M·D·n·d′) por histograma; predicción O(M·D). Medido: 162 s con 311.865 filas; 16,8 ms por cada 1.000 predicciones.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2000" y="3348000"/>
            <a:ext cx="2700000" cy="1368000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3999" y="3456000"/>
            <a:ext cx="2376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Generalización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3999" y="3715200"/>
            <a:ext cx="2376000" cy="9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Parada por presupuesto y validación por ventanas en el tiempo; una entidad nueva recibe la tasa de su nivel superior.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7: resultados/complejidad.csv (tiempos medidos en srvgdai)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Hacia adelante en el tiempo, con el mismo presupuesto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DISEÑO EXPERIMENTAL E IMPLEMENTACIÓN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f_1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99" y="1224000"/>
            <a:ext cx="4608000" cy="22031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8000" y="1674000"/>
            <a:ext cx="36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6000" y="1674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4000" y="1674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8000" y="1684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1897200"/>
            <a:ext cx="73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4000" y="1897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02000" y="1897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5999" y="1908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22-S2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" y="2120400"/>
            <a:ext cx="111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02000" y="2120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80000" y="2120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4000" y="2131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" y="2343600"/>
            <a:ext cx="1494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80000" y="23436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58000" y="23436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000" y="23544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23-S2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000" y="2566800"/>
            <a:ext cx="1872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58000" y="25668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36000" y="25668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0000" y="25776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" y="2790000"/>
            <a:ext cx="2250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36000" y="27900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14000" y="27900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8000" y="28008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24-S2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000" y="3013200"/>
            <a:ext cx="2628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14000" y="30132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92000" y="30132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06000" y="30240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8000" y="3236400"/>
            <a:ext cx="3006000" cy="1728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92000" y="3236400"/>
            <a:ext cx="360000" cy="172800"/>
          </a:xfrm>
          <a:prstGeom prst="rect">
            <a:avLst/>
          </a:prstGeom>
          <a:solidFill>
            <a:srgbClr val="D9E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70000" y="3236400"/>
            <a:ext cx="360000" cy="1728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4000" y="3247200"/>
            <a:ext cx="720000" cy="1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A5A5A"/>
                </a:solidFill>
                <a:latin typeface="Calibri"/>
              </a:rPr>
              <a:t>25-S2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000" y="3546000"/>
            <a:ext cx="468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405731"/>
                </a:solidFill>
                <a:latin typeface="Calibri"/>
              </a:rPr>
              <a:t>verde: entrena   </a:t>
            </a:r>
            <a:r>
              <a:rPr sz="950" b="0">
                <a:solidFill>
                  <a:srgbClr val="5A5A5A"/>
                </a:solidFill>
                <a:latin typeface="Calibri"/>
              </a:rPr>
              <a:t>gris: valida adentro (elige hiperparámetros)   </a:t>
            </a:r>
            <a:r>
              <a:rPr sz="950" b="1">
                <a:solidFill>
                  <a:srgbClr val="B08A2D"/>
                </a:solidFill>
                <a:latin typeface="Calibri"/>
              </a:rPr>
              <a:t>oro: evalúa (bucle externo)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000" y="3924000"/>
            <a:ext cx="468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4 balanceos: ninguno, SMOTE, ADASYN y pesos de clase, siempre dentro del pipeline y solo sobre el entrenamiento. 20 evaluaciones por optimizador y bloque. Total: 201 horas de CPU en un servidor del grupo (srvgdai), con 30 trabajos a la vez.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00000" y="1188000"/>
            <a:ext cx="3311999" cy="1872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62000" y="1295999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Reproducibilidad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62000" y="1555200"/>
            <a:ext cx="2987999" cy="145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Un script por paso en src/; semilla 2026 en todo.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Preprocesador sin hiperparámetros, ajustado una vez por ventana.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57 pruebas con pytest e integración continua en GitHub.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Cada trabajo deja su JSON con parámetros y métricas.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00000" y="3168000"/>
            <a:ext cx="3311999" cy="1548000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62000" y="3276000"/>
            <a:ext cx="2987999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Decisiones computacionales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62000" y="3535200"/>
            <a:ext cx="2987999" cy="113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Calibri"/>
              </a:rPr>
              <a:t>Matrices preprocesadas en float32 leídas con mmap, para correr 30 trabajos a la vez; SMOTE y ADASYN calculados una vez por ventana; KNN sobre 30 componentes principales.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 (las 112): src/validacion.py, src/experimentos.py, tests/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Optuna llega antes; con 20 evaluaciones empatan los cuatro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4  ·  HIPERPARÁMETROS Y OPTIMIZADORES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timiz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4536000" cy="307800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48000" y="1224000"/>
          <a:ext cx="3563998" cy="1187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048"/>
                <a:gridCol w="1651609"/>
                <a:gridCol w="782341"/>
              </a:tblGrid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optimizador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perdido a 5 evaluaciones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 20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0,0064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DEAP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0,0013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0,0148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37599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0,0417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0,0034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48000" y="2556000"/>
            <a:ext cx="3564000" cy="1080000"/>
          </a:xfrm>
          <a:prstGeom prst="rect">
            <a:avLst/>
          </a:prstGeom>
          <a:solidFill>
            <a:srgbClr val="E8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0000" y="2664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Optuna (TPE)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0000" y="2923199"/>
            <a:ext cx="3240000" cy="66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Modela qué zonas del espacio dieron buen AUC y propone donde la mejora esperada es mayor: aprende de los ensayos anteriores.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8000" y="3708000"/>
            <a:ext cx="3564000" cy="1007999"/>
          </a:xfrm>
          <a:prstGeom prst="rect">
            <a:avLst/>
          </a:prstGeom>
          <a:solidFill>
            <a:srgbClr val="F5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0000" y="3816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05731"/>
                </a:solidFill>
                <a:latin typeface="Calibri"/>
              </a:rPr>
              <a:t>DEAP (genético)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0000" y="4075200"/>
            <a:ext cx="3240000" cy="59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Selección, cruce, mutación y elitismo sobre una población de configuraciones; llega tarde pero llega.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 5: data/modelos/curvas_optimizador.csv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XGBoost gana los 8 bloques: AUC 0,852 contra 0,843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MÉTRICAS, LÍNEA BASE Y COMPARACIÓN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68000" y="1188000"/>
          <a:ext cx="4896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000"/>
                <a:gridCol w="994500"/>
                <a:gridCol w="612000"/>
                <a:gridCol w="535500"/>
                <a:gridCol w="612000"/>
              </a:tblGrid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modelo (mejor combinación)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 ± desv.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ms / 1.000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XGBoost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0,852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0,778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17,3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Random Forest · SMOTE · Grid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0,843 ± 0,023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0,660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31,8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Logística (SGD) · pesos · Grid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0,751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0,663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SVM lineal (SGD) · pesos · Random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0,839 ± 0,024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Árbol · sin balanceo · Optuna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0,810 ± 0,020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0,715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0,634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KNN (PCA 30) · SMOTE · Optuna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0,781 ± 0,044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0,665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0,601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1.414,6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  <a:tr h="261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Naive Bayes · SMOTE · DEAP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0,735 ± 0,069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0,566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0,556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29,4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rangos_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000" y="1152000"/>
            <a:ext cx="3204000" cy="20363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08000" y="3366000"/>
            <a:ext cx="320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A1A1A"/>
                </a:solidFill>
                <a:latin typeface="Calibri"/>
              </a:rPr>
              <a:t>Friedman: χ² = 45,6, p &lt; 0,001.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A1A1A"/>
                </a:solidFill>
                <a:latin typeface="Calibri"/>
              </a:rPr>
              <a:t>Nemenyi no separa a XGBoost de la logística ni del bosque (diferencia crítica 3,19); Wilcoxon por pares sí: gana los 8 bloques, p de Holm = 0,047.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384000"/>
            <a:ext cx="4896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5A5A"/>
                </a:solidFill>
                <a:latin typeface="Calibri"/>
              </a:rPr>
              <a:t>Métricas: AUC ordena por riesgo (independiente del umbral), PR-AUC atiende a la clase de interés, F1 mide la decisión al umbral; Brier y ECE, si la probabilidad es creíble.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68000" y="3816000"/>
          <a:ext cx="4895997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586"/>
                <a:gridCol w="844137"/>
                <a:gridCol w="844137"/>
                <a:gridCol w="844137"/>
              </a:tblGrid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prueba 2026 (línea base)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57600" marR="57600" marT="14400" marB="14400" anchor="ctr">
                    <a:solidFill>
                      <a:srgbClr val="405731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regla del proveedor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0,670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0,509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0,202</a:t>
                      </a:r>
                    </a:p>
                  </a:txBody>
                  <a:tcPr marL="57600" marR="57600" marT="14400" marB="144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Calibri"/>
                        </a:rPr>
                        <a:t>regresión logística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0,825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0,649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0,149</a:t>
                      </a:r>
                    </a:p>
                  </a:txBody>
                  <a:tcPr marL="57600" marR="57600" marT="14400" marB="14400" anchor="ctr">
                    <a:solidFill>
                      <a:srgbClr val="EEF2E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508000" y="4014000"/>
            <a:ext cx="3204000" cy="702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2000" y="4104000"/>
            <a:ext cx="2916000" cy="557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XGBoost en la prueba 2026 y la tabla de brecha validación-prueba de cada modelo.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data/modelos/lideres.csv, friedman.csv, wilcoxon.csv, metricas.csv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Sobreajuste bajo: 0,003 de AUC entre interno y externo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5  ·  ANÁLISIS DE ERRORES Y SOBREAJUSTE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interno_exter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152000"/>
            <a:ext cx="3960000" cy="2188421"/>
          </a:xfrm>
          <a:prstGeom prst="rect">
            <a:avLst/>
          </a:prstGeom>
        </p:spPr>
      </p:pic>
      <p:pic>
        <p:nvPicPr>
          <p:cNvPr id="10" name="Picture 9" descr="aprendizaj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1152000"/>
            <a:ext cx="2232000" cy="1584550"/>
          </a:xfrm>
          <a:prstGeom prst="rect">
            <a:avLst/>
          </a:prstGeom>
        </p:spPr>
      </p:pic>
      <p:pic>
        <p:nvPicPr>
          <p:cNvPr id="11" name="Picture 10" descr="calibr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0" y="1152000"/>
            <a:ext cx="1908000" cy="1771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000" y="3348000"/>
            <a:ext cx="39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El bloque 2025-S1 baja de 0,894 adentro a 0,846 afuera: es el semestre en que cambia la mezcla de 2025 (lámina 5), no un modelo que memoriza.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6000" y="3348000"/>
            <a:ext cx="4176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Logística (modelo base): 0,868 en entrenamiento y 0,830 en validación con todas las filas; bien calibrada en 2026 (ECE 0,021).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3996000"/>
            <a:ext cx="8243999" cy="720000"/>
          </a:xfrm>
          <a:prstGeom prst="rect">
            <a:avLst/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000" y="4086000"/>
            <a:ext cx="7955999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A5A5A"/>
                </a:solidFill>
                <a:latin typeface="Calibri"/>
              </a:rPr>
              <a:t>Pendiente: evaluación final 2026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para el mejor modelo en 2026: matriz de confusión por línea de negocio, errores con entidades nuevas frente a conocidas, un falso negativo típico y SHAP (qué variables mueven cada predicción).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4 y 5: resultados/experimentos/por_bloque.csv, data/modelos/curva_aprendizaje.csv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76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00"/>
            <a:ext cx="9144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4000" y="72000"/>
            <a:ext cx="468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60" y="145440"/>
            <a:ext cx="355680" cy="266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125999"/>
            <a:ext cx="81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El retraso se anticipa al liberar, con límites claros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756000"/>
            <a:ext cx="7308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8A2D"/>
                </a:solidFill>
                <a:latin typeface="Calibri"/>
              </a:rPr>
              <a:t>CRITERIO 6  ·  CONCLUSIONES Y LIMITACIONES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8000" y="1044000"/>
            <a:ext cx="468000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152000"/>
            <a:ext cx="40319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05731"/>
                </a:solidFill>
                <a:latin typeface="Calibri"/>
              </a:rPr>
              <a:t>Conclusiones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" y="149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000" y="1440000"/>
            <a:ext cx="381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Se puede ordenar por riesgo al liberar: AUC 0,852 hacia adelante en el tiempo, contra 0,670 de la regla del proveedor en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000" y="2235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4000" y="2178000"/>
            <a:ext cx="381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La señal está en el plazo, el historial del proveedor y las entidades; ninguna variable sola basta.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" y="2973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000" y="2916000"/>
            <a:ext cx="381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XGBoost gana, pero por una centésima: la logística, más simple y calibrada, queda como alternativa defendible.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000" y="3711599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" y="3653999"/>
            <a:ext cx="3816000" cy="68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El optimizador importa con poco presupuesto; el balanceo casi no mueve el AUC.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2000" y="1152000"/>
            <a:ext cx="39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8C4A2D"/>
                </a:solidFill>
                <a:latin typeface="Calibri"/>
              </a:rPr>
              <a:t>Limitaciones y mejoras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2000" y="149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8000" y="1440000"/>
            <a:ext cx="374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Deriva: 2025 se distingue de 2021-2024 casi por completo; hay que reentrenar y vigilar.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2000" y="212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8000" y="2070000"/>
            <a:ext cx="374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La etiqueta de lo más reciente madura tarde (censura al final del periodo).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2000" y="275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8000" y="2700000"/>
            <a:ext cx="374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Maestros en foto actual, no con su vigencia histórica.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2000" y="338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8000" y="3330000"/>
            <a:ext cx="374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Una sola empresa: la generalización a otros grupos no está probada.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2000" y="4017600"/>
            <a:ext cx="72000" cy="72000"/>
          </a:xfrm>
          <a:prstGeom prst="rect">
            <a:avLst/>
          </a:prstGeom>
          <a:solidFill>
            <a:srgbClr val="4057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8000" y="3960000"/>
            <a:ext cx="3744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Arranque en frío: 11,1 % de proveedores nuevos en 2026.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000" y="4842000"/>
            <a:ext cx="8243999" cy="14400"/>
          </a:xfrm>
          <a:prstGeom prst="rect">
            <a:avLst/>
          </a:prstGeom>
          <a:solidFill>
            <a:srgbClr val="DD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4896000"/>
            <a:ext cx="59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Calibri"/>
              </a:rPr>
              <a:t>Fuente: libro, capítulos 2 a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000" y="4896000"/>
            <a:ext cx="2304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C8C8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057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8000" y="503999"/>
            <a:ext cx="1404000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80" y="687600"/>
            <a:ext cx="1067040" cy="799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8000" y="2015999"/>
            <a:ext cx="792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000" y="2664000"/>
            <a:ext cx="827999" cy="36000"/>
          </a:xfrm>
          <a:prstGeom prst="rect">
            <a:avLst/>
          </a:prstGeom>
          <a:solidFill>
            <a:srgbClr val="B0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2880000"/>
            <a:ext cx="7920000" cy="10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Repositorio   github.com/ddcarbono/otif-compras-ml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Libro            ddcarbono.github.io/otif-compras-ml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D9E2D2"/>
                </a:solidFill>
                <a:latin typeface="Calibri"/>
              </a:rPr>
              <a:t>Tablero         otif-compras-ml.onrender.com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4392000"/>
            <a:ext cx="79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2E3BE"/>
                </a:solidFill>
                <a:latin typeface="Calibri"/>
              </a:rPr>
              <a:t>Responden los dos autores (criterio 7: dominio individual).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