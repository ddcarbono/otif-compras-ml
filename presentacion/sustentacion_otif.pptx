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En los bloques la ganancia es de una centésima frente al bosque y la logística. En 2026, medido una vez con lo congelado en 2025, XGBoost da 0,848 y le saca 0,023 a la logística. La brecha no muestra caída de la validación a la prueba. Por qué XGBoost y no la logística: un retraso cuesta más que una falsa alarma, y con el mismo esfuerzo de revisión atrapa 347 tardías más en 2026 (BCa por órdenes [150; 569]); las de material sin stock tienen un intervalo que roza el cero. Entrenar tarda minutos: se puede reentrenar cada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sirve el modelo original y, para comparar, XGBoost, los dos con Platt y contribuciones SHAP exactas. Pruebas: Friedman rechaza la igualdad; Nemenyi es conservador con 8 bloques; el Wilcoxon pareado con Holm separa porque XGBoost gana en cada bloque. DeLong mira dentro de cada bloque (validado contra pROC); como supone filas independientes, se lee con el BCa que remuestrea órdenes. Cliff con el bosque: pequeño (0,25).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5 · expone B] Sobreajuste en dos vistas: interno contra externo por bloque y la curva de aprendizaje. En 2026, el error se concentra en las órdenes con entidades nuevas y en ganadería; el falso negativo típico no se podía ver al liberar.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Qué es la propuesta y qué aporta cada parte. La 2 × 2 separa modelo de información: los efectos por entidad y el plazo real son dos caminos a la misma ganancia. Decir que es la cuarta mirada a 2026 y que por eso se lee como exploratoria.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 «¿y en otros datos?». La ganancia de la propuesta en OTIF (0,011) depende de rasgos del caso: entidades con historia en el tiempo, desenlace continuo y plazo prometido. Airlines no trae el año: su partición es por mes. No decir que generaliza: es una hipótesis con apoyo.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objetivo. El modelo original del Entregable 3 le gana al óptimo de las 112 por 0,011 en 2026 (pestaña Modelo original del tablero); la pestaña Predicción lo sirve en vivo, con XGBoost al lado para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5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3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3 y 4: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4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6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11999"/>
            <a:ext cx="489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671999"/>
          <a:ext cx="4895998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557"/>
                <a:gridCol w="1444721"/>
                <a:gridCol w="722360"/>
                <a:gridCol w="722360"/>
              </a:tblGrid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XGBoost, con Platt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Frente a la logística, con el mismo 20 % de alertas: 35 tardías más por mes, 17 de material sin stock.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8000" y="3852000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De la validación 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8000" y="4111200"/>
            <a:ext cx="2771999" cy="55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AUC interno 0,854, bloques externos 0,852, prueba 2026 0,848: no cae.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data/modelos/lideres.csv; resultados/prueba_2026/metricas.csv, brecha.csv, criticas.csv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 (Modelos → Predicción):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000" y="972000"/>
            <a:ext cx="3744000" cy="23795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564000"/>
            <a:ext cx="388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Dentro de cada bloque, DeLong con Holm: supera al bosque en 6 de 8 y a la logística en 7, sin perder en ninguno. Ventaja 0,009-0,012 de AUC, con BCa por órdenes lejos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wilcoxon.csv; resultados/pruebas/resumen.csv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61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4060800"/>
            <a:ext cx="788399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Errores de XGBoost en 2026:  </a:t>
            </a:r>
            <a:r>
              <a:rPr sz="1050" b="0">
                <a:solidFill>
                  <a:srgbClr val="FFFFFF"/>
                </a:solidFill>
                <a:latin typeface="Calibri"/>
              </a:rPr>
              <a:t>de 16.374 tardías marcó 11.341 (69 %), con 5.889 falsas alarmas. AUC 0,856 con todo conocido y 0,821 con alguna entidad nueva; ganadería, 0,712. El falso negativo típico tenía plazo amplio y un proveedor puntual: el retraso se decide en la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resultados/experimentos/por_bloque.csv, resultados/prueba_2026/segmentos.csv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modelo original le gana al óptimo de las 112 por 0,011 de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MODELO ORIGINAL (ENTREGABLE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BOREAL: efectos por entidad sobre un boosting, con cortes ordenados</a:t>
            </a:r>
          </a:p>
        </p:txBody>
      </p:sp>
      <p:pic>
        <p:nvPicPr>
          <p:cNvPr id="10" name="Picture 9" descr="f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5148000" cy="2147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692000"/>
            <a:ext cx="5220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d_i: días de retraso; se predice en c = 1 (y_tarde) y aprende también de cuánto se atrasó. b_e: intercepto aleatorio por proveedor, material, solicitante y comprador, encogido hacia 0 (σ²_e por EM). Al entrenar, los árboles ven efectos estimados solo con los semestres anteriores, como al predecir.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23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 es un LightGBM, no un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000" y="2448000"/>
            <a:ext cx="5220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Misma suma de árboles, misma log-pérdida y mismo peso de hoja −G/(H + λ) (diapositiva 11). Difiere en cómo crece el árbol: por hoja, partiendo la de mayor ganancia hasta 154 hojas, y no por niveles (XGBoost: profundidad 10). Aquí toma Σ b_e como desplazamiento fijo del logit y es monótono decreciente en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000" y="3024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Plazo log-normal y plazo real</a:t>
            </a:r>
          </a:p>
        </p:txBody>
      </p:sp>
      <p:pic>
        <p:nvPicPr>
          <p:cNvPr id="15" name="Picture 14" descr="f_lognorm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240000"/>
            <a:ext cx="4140000" cy="2487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546000"/>
            <a:ext cx="522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z: cuánto alcanza la promesa frente al plazo real esperado (un LightGBM sin la promesa). Más 32 variables de plazo real: mediana y percentil 80 de las últimas 20 entregas, y la holgura empírica.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832000" y="1188000"/>
          <a:ext cx="2880000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72000"/>
                <a:gridCol w="97200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2026, 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136 del dataset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136 + 32 nuevas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0,858 [0,846; 0,869]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BOREAL sin log-normal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0,854 [0,841; 0,865]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0,857 [0,843; 0,868]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0,858 [0,845; 0,868]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0,860 [0,847; 0,871]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5832000" y="2556000"/>
            <a:ext cx="2880000" cy="140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3999" y="2664000"/>
            <a:ext cx="255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Lectura de la 2 ×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3999" y="2923199"/>
            <a:ext cx="2556000" cy="9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Con las 136, la estructura suma 0,009 [0,003; 0,015].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El plazo real le da a XGBoost 0,010 [0,006; 0,014]; con él, la ventaja de la estructura baja a 0,001, sin significancia.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El log-normal suma 0,003; su intervalo toca el cero.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031999"/>
            <a:ext cx="8243999" cy="684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4096799"/>
            <a:ext cx="78839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el tablero:  </a:t>
            </a:r>
            <a:r>
              <a:rPr sz="1050" b="0">
                <a:solidFill>
                  <a:srgbClr val="FFFFFF"/>
                </a:solidFill>
                <a:latin typeface="Calibri"/>
              </a:rPr>
              <a:t>la pestaña Predicción lo sirve con posiciones reales de 2026, sin códigos de entidad. Es la cuarta mirada a 2026: exploratoria. En las órdenes con alguna entidad nueva no gana: el arranque en frío sigue abierto.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11: resultados/prueba_2026/dos_por_dos.csv y contrastes.csv; tablero: Modelos → Modelo original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 otros datos, la propuesta gana donde hay historia por 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VALIDACIÓN EN CONJUNTOS PÚBLICOS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5183997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301"/>
                <a:gridCol w="639123"/>
                <a:gridCol w="568109"/>
                <a:gridCol w="1278246"/>
                <a:gridCol w="497095"/>
                <a:gridCol w="639123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XGBoost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boosting mixto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[IC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 Holm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Vuelos (Airlines)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-0,004 [-0,009; 0,001]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0,217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Acceso (Amazon)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0,867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-0,008 [-0,017; 0,001]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0,217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Publicidad (Click)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0,707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0,699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-0,007 [-0,013; -0,002]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0,057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Reingreso (Diabetes130US)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0,017 [0,009; 0,025]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boosting mixto gana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Citas no asistidas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0,005 [0,002; 0,007]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boosting mixto gana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Buses de Nueva York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0,852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0,008 [0,005; 0,010]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boosting mixto gana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Transporte de Zúrich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0,006 [-0,004; 0,018]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0,217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851999"/>
            <a:ext cx="5184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Mismo protocolo para los dos: Optuna con 20 evaluaciones en validación, una medida en la prueba, DeLong pareado con Holm sobre los siete. La segunda ronda (filas 4 a 7) se eligió con un criterio fijado antes de correr. El plazo log-normal y las variables nuevas no aplican fuera de OTIF.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68000" y="1188000"/>
            <a:ext cx="2844000" cy="230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0000" y="1295999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Lectura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0000" y="1555200"/>
            <a:ext cx="2520000" cy="18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3, empata 4, pierde 0; Wilcoxon p = 0,69: no hay superioridad general.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donde la entidad vuelve (el paciente, el bus), como el proveedor en OTIF.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Empata con entidades pocas y estables, o sin tiempo ni desenlace continuo.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68000" y="3600000"/>
            <a:ext cx="2844000" cy="111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3664800"/>
            <a:ext cx="2484000" cy="10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Cuidado:  </a:t>
            </a:r>
            <a:r>
              <a:rPr sz="1050" b="0">
                <a:solidFill>
                  <a:srgbClr val="FFFFFF"/>
                </a:solidFill>
                <a:latin typeface="Calibri"/>
              </a:rPr>
              <a:t>la segunda ronda se eligió por parecerse a OTIF: dice dónde sirve, no que sea mejor en general.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12: original/publicos_otif_resumen.csv (OpenML); tablero: Modelos → Modelo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 de forma significativa y material: en 2026, AUC 0,848 contra 0,825 de la logística, y más tardías atrapadas con las mismas alertas.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400"/>
                <a:gridCol w="1425600"/>
              </a:tblGrid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AUC 0,82 contra 0,86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el original (y XGBoost)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original contra el óptimo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+0,011 de AUC [0,003; 0,017]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3096000"/>
            <a:ext cx="3168000" cy="162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3160800"/>
            <a:ext cx="2808000" cy="15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33 % de las posiciones, XGBoost ve venir el 69 % de las tardías de 2026. Por órdenes: siguiendo el 39 % se ve venir el 69 % de las órdenes con retraso.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4, 6 y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