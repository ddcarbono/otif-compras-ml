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· criterio 1 · expone A] Presentarse los dos y dejar las tres direcciones en pantalla. Render ya abierto desde antes: el plan gratuito se duerme.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1 · expone A] El problema en una frase y su magnitud. La tercera cifra es del modelo base en 2026 y ya está en el libro: marcando poco más de un tercio, se ven venir siete de cada diez tardías.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1 · expone A] x, y, el modelo Bernoulli, la log-pérdida como menos log-verosimilitud y el umbral. Insistir: τ sale de 2025 y 2026 no elige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Pantalla en vivo. Si el tablero no carga, la captura queda en la diapositiva. Mostrar el filtro por línea: industrial y palma llegan tarde más que banano y ganadería.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2 · expone A] Fuente y estructura. La unidad independiente es la orden: por eso los pliegues se agrupan por orden. La partición es cronológica.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Distribuciones: colas largas, transformación justificada. Faltantes: el mecanismo es estructural, no aleatorio. Atípicos: tienen más retraso, se quedan.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Relaciones: la señal está repartida. Fuga: lo que se retiró y por qué, y la codificación por objetivo fuera de pliegue, que es la fuga más fácil de cometer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2 · expone A] Tres pruebas de que el tiempo importa: la serie no es estacionaria, hay entidades nuevas y la validación adversaria reconoce el año aun sin las variables de reloj.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Qué es el modelo, qué pérdida minimiza y por qué esa pérdida (Bernoulli). Principio: gradiente en el espacio de funciones. Contraste con el bosque: sesgo contra varianza.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Derivar en voz alta: σ′ = σ(1 − σ); dℓ/dF = σ − y; d²ℓ/dF² = σ(1 − σ). γ cobra por hoja y λ encoge los pesos. Es la derivación que más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w* = −G/(H + λ) sale de derivar la parábola e igualar a cero. La ganancia compara la pérdida óptima de las dos hojas hijas con la de la madre; γ es el costo de una hoja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criterio 3 · expone B] Cada hiperparámetro y dónde vive en la fórmula. Complejidad: teoría y medición coinciden; el exponente 0,91 en log-log es casi lineal. Supuesto clave: independencia dado x, que la agrupación por orden protege.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B] Validación anidada: el externo mide, el interno elige. Mismo presupuesto para comparar optimizadores de forma justa. La prueba 2026 se mira una vez,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B] Por qué ese espacio: rangos usuales de la literatura, escala logarítmica donde el efecto es multiplicativo (tasa, peso mínimo). Decisiones computacionales: matrices preprocesadas en disco, SMOTE calculado una vez por ventana.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A] Optuna (TPE) aprende de los ensayos y propone donde la mejora esperada es mayor; DEAP llega tarde pero llega. Con poco presupuesto conviene Optuna; con 20 la superficie es plana.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Por qué cada métrica. En los bloques la ganancia es de una centésima frente al bosque y la logística. En 2026, medido una vez con lo congelado en 2025, XGBoost da 0,848 y le saca 0,023 a la logística. La brecha no muestra caída de la validación a la prueba. Por qué XGBoost y no la logística: un retraso cuesta más que una falsa alarma, y con el mismo esfuerzo de revisión atrapa 347 tardías más en 2026 (BCa por órdenes [150; 569]); las de material sin stock tienen un intervalo que roza el cero. Entrenar tarda minutos: se puede reentrenar cada 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A] En vivo: la predicción la sirve XGBoost con Platt, con sus contribuciones SHAP exactas. Pruebas: Friedman rechaza la igualdad; Nemenyi es conservador con 8 bloques; el Wilcoxon pareado con Holm separa porque XGBoost gana en cada bloque. DeLong mira dentro de cada bloque (validado contra pROC); como supone filas independientes, se lee con el BCa que remuestrea órdenes. Cliff con el bosque: pequeño (0,25).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5 · expone B] Sobreajuste en dos vistas: interno contra externo por bloque y la curva de aprendizaje. En 2026, el error se concentra en las órdenes con entidades nuevas y en ganadería; el falso negativo típico no se podía ver al liberar.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Qué es la propuesta y qué aporta cada parte. La 2 × 2 separa modelo de información: los efectos por entidad y el plazo real son dos caminos a la misma ganancia. Decir que es la tercera mirada a 2026 y que por eso se lee como exploratoria.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 «¿y en otros datos?». La ganancia de la propuesta en OTIF (0,012) depende de rasgos del caso: entidades con historia en el tiempo, desenlace continuo y plazo prometido. Airlines no trae el año: su partición es por mes. No decir que generaliza: es una hipótesis con apoyo.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Responder la pregunta con cifras y el veredicto de cada objetivo. El modelo original del Entregable 3 le gana al óptimo de las 112 por 0,012 en 2026 (pestaña Modelo original del tablero); el tablero sirve el XGBoost porque la propuesta necesita la historia de entregas de cada entidad, que no se publica.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B] Separar lo teórico (supuestos del modelo) de lo empírico (los datos). Las mejoras apuntan al modelo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· criterio 7 · expone A y B] Preparar: derivar g, h y w*; por qué la codificación va fuera de pliegue; por qué la prueba no elige nada; por qué Nemenyi y Wilcoxon dicen cosas distintas; qué pasa con un proveedor nuevo.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68000" cy="51444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000" y="1872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UNIVERSIDAD DEL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Maestría en Estadística Aplicada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3816000"/>
            <a:ext cx="64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399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Daniel Carbonó Domínguez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Luis Pérez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453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D9E2D2"/>
                </a:solidFill>
                <a:latin typeface="Calibri"/>
              </a:rPr>
              <a:t>Octubre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0" y="936000"/>
            <a:ext cx="48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CLASIFICACIÓN BINARIA SUPERVISADA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332000"/>
            <a:ext cx="5184000" cy="15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Predicción del incumplimiento de órdenes de compra en la agroindustria de la palma de aceite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0" y="2916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0" y="3096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Calibri"/>
              </a:rPr>
              <a:t>406.126 posiciones de 104.614 órdenes de compra, 2021-2026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0" y="3744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Tablero         otif-compras-ml.onrender.com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Uno de cada tres pedidos llega tarde, y se sabe cuando ya pasó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EL PROBLEMA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24000"/>
            <a:ext cx="1944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8000" y="122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5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33,0 %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85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posiciones llega tarde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304000"/>
            <a:ext cx="1944000" cy="97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8000" y="230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43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41 %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93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en industrial; 25 % en ganaderia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384000"/>
            <a:ext cx="1944000" cy="972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8000" y="338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351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71 %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000" y="401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tardías de 2026, marcando el 38 %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6000" y="118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Por qué importa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6000" y="1440000"/>
            <a:ext cx="3311999" cy="12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El comprador hoy se entera del retraso cuando la mercancía no llega. Con miles de posiciones abiertas, no puede seguirlas todas: necesita saber, el día en que libera la orden, cuáles vigilar.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6000" y="2628000"/>
            <a:ext cx="331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Qué dice la literatura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6000" y="2880000"/>
            <a:ext cx="3311999" cy="1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En fabricantes de maquinaria y equipos llega tarde del 13 % al 14 % de los pedidos (Brintrup y otros, 2020; Steinberg y otros, 2023): aquí es más del doble.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5A5A5A"/>
                </a:solidFill>
                <a:latin typeface="Calibri"/>
              </a:rPr>
              <a:t>Una revisión de 26 estudios encuentra que 16 parten las filas al azar; reevaluado sin fuga y en el tiempo, un AUC de 0,96 baja a 0,73 (Raval, 2026). Este trabajo evalúa siempre hacia adelante.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999" y="1224000"/>
            <a:ext cx="2448000" cy="3491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5999" y="1332000"/>
            <a:ext cx="212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Objetivos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5999" y="1591200"/>
            <a:ext cx="2124000" cy="307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General: ordenar las posiciones por riesgo de retraso el día de la liberación y señalar cuáles seguir.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1: comparar 7 modelos × 4 balanceos × 4 optimizadores con el mismo presupuesto.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2: medir cuánto cuesta decidir con entidades nuevas (proveedor o material sin historia).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Específico 3: dejar el modelo servido en un tablero con predicción en vivo.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introducción y literatura; capítulo 5 (modelo base): data/modelos/metricas.csv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Estimar la probabilidad de llegar tarde y decidir con un umbral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FORMULACIÓN MATEMÁTICA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Unidad: la posición i, el día t en que se libera su orden</a:t>
            </a:r>
          </a:p>
        </p:txBody>
      </p:sp>
      <p:pic>
        <p:nvPicPr>
          <p:cNvPr id="10" name="Picture 9" descr="f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40000"/>
            <a:ext cx="1763061" cy="27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782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x: 136 predictoras conocidas en t. y = 1 si la primera entrada de mercancía llega más de 1 día hábil después de la fecha prometida vigente al liberar.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304000"/>
            <a:ext cx="50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 estadístico: y | x es Bernoulli con probabilidad p(x)</a:t>
            </a:r>
          </a:p>
        </p:txBody>
      </p:sp>
      <p:pic>
        <p:nvPicPr>
          <p:cNvPr id="13" name="Picture 12" descr="f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574000"/>
            <a:ext cx="3042000" cy="27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2916000"/>
            <a:ext cx="504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Se estima p(x) minimizando la log-pérdida, que es menos la log-verosimilitud de Bernoulli; la decisión ŷ compara p̂ con un umbral τ.</a:t>
            </a:r>
          </a:p>
        </p:txBody>
      </p:sp>
      <p:pic>
        <p:nvPicPr>
          <p:cNvPr id="15" name="Picture 14" descr="f_b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456000"/>
            <a:ext cx="3668955" cy="27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851999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El umbral τ se elige en la validación 2025, maximizando F1; la prueba 2026 se usa una sola vez y no elige nada.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Métricas: AUC para ordenar por riesgo (no depende de τ) y F1 para la decisión.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000" y="1188000"/>
            <a:ext cx="295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2000" y="1295999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Tarea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22000" y="1555200"/>
            <a:ext cx="262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Clasificación binaria supervisada: la etiqueta se observa después, cuando entra la mercancía, y el modelo aprende de las órdenes ya cerradas.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2951999"/>
            <a:ext cx="295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22000" y="3060000"/>
            <a:ext cx="262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Por qué no regresión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22000" y="3319199"/>
            <a:ext cx="262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decisión del comprador es binaria: seguir la orden o no. Los días de retraso tienen colas muy largas y se usan como contexto; el modelo original del Entregable 3 los aprovecha con cortes ordenados.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1 y 2 (definición de la etiqueta y de la población)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el contexto y la exploración, con filtros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5616000" cy="351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5616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36000" y="1188000"/>
            <a:ext cx="2376000" cy="3528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8000" y="1295999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8000" y="1548000"/>
            <a:ext cx="20519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8000" y="1835999"/>
            <a:ext cx="2051999" cy="28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Contexto: la fuente (SAP, 2021-2026), la población y la etiqueta.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EDA: el objetivo por clase y la tasa por mes.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Filtrar una línea de negocio: todo cambia con ella (de 25 % a 41 % de tarde).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4. Bajar a distribuciones y atípicos.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páginas Contexto y EDA (otif-compras-ml.onrender.com)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 SAP a 406.126 posiciones con una etiqueta y 136 predictoras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FUENTE, ESTRUCTURA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SAP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compras 2021-2026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2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2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490.310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2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posiciones con plazo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6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6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406.126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6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población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0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90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etiqueta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0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&gt; 1 día hábil tarde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4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136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4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predictoras al liberar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68000" y="2088000"/>
          <a:ext cx="4679998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150"/>
                <a:gridCol w="1159646"/>
                <a:gridCol w="993982"/>
                <a:gridCol w="911150"/>
                <a:gridCol w="704070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partición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posiciones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órdenes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tarde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2021-2024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entrenar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271.391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70.233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34,0 %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elegir umbral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82.794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21.797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probar una vez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51.941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12.584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31,5 %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400000" y="2088000"/>
            <a:ext cx="3311999" cy="25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000" y="2196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Las 136 predictoras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2000" y="2455200"/>
            <a:ext cx="2987999" cy="21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83 numéricas: plazo, valor, liberación, historial del proveedor, stock, tasa de cambio.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42 categóricas de pocos valores: línea, clase, moneda, tipo de material.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11 entidades: proveedor, material, comprador, liberador, centro de costo y otras.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Solo lo que se conoce el día de la liberación.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000" y="3528000"/>
            <a:ext cx="468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Las órdenes son la unidad independiente: 3,9 posiciones por orden. Ninguna orden cruza particiones y toda validación cruzada agrupa por orden.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partición es por la fecha de la orden, no al azar (diapositiva 8).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 (datos); diccionario de variables en data/diccionario.csv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Colas largas, vacíos con causa y atípicos que llegan más tarde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DESCRIPTIVA, FALTANTES Y ATÍPICOS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607997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745"/>
                <a:gridCol w="781016"/>
                <a:gridCol w="937220"/>
                <a:gridCol w="781016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asimetría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Valor para la liberación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24.807,3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6.967.970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294,2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Precio de la solicitud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499,0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364.340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247,5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cantidad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238,5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al último precio del material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213,5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Razón precio orden/solicitud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78.327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190,0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Plazo original al crear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20,0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148,7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2951999"/>
            <a:ext cx="460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Por eso signo(x)·log(1 + |x|) antes de los modelos lineales: comprime las colas sin cambiar el orden. A los árboles no les cambia nada, porque solo usan el orden.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600000"/>
            <a:ext cx="4608000" cy="1116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708000"/>
            <a:ext cx="428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Atípicos multivariados (Isolation Forest)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967200"/>
            <a:ext cx="4284000" cy="7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40,4 % de tarde en las atípicas contra 33,7 % en el resto: son señal, no ruido, y no se borran.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28000" y="1188000"/>
          <a:ext cx="3383999" cy="1655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8341"/>
                <a:gridCol w="742829"/>
                <a:gridCol w="742829"/>
              </a:tblGrid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vacíos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tasa (pp)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mc_aprov_especial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93,6 %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imp_categoria_orden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88,8 %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razon_cantidad_stock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76,3 %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mat_razon_ultimo_precio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51,9 %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imp_n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6571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imp_a_activo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50,3 %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2,9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328000" y="2951999"/>
            <a:ext cx="3384000" cy="176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90000" y="3060000"/>
            <a:ext cx="30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Faltantes estructurales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90000" y="3319199"/>
            <a:ext cx="3060000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7 variables con más de 50 % de vacíos, y no son azar: faltan porque la orden no tiene solicitud o no tiene imputación. Se marcan con indicadores tiene_* y se imputa la mediana; Δ tasa es la diferencia de retraso entre filas con y sin dato.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3 (EDA): resultados/eda/univariado_numericas.csv, faltantes.csv, atipicos_if.csv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Ninguna variable sola pasa de 0,75 de AUC, y ninguna es fuga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RELACIONES Y FUGA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uc_univari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392000" cy="2378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4284000"/>
            <a:ext cx="4392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plazo hábil al liberar separa más (0,732): es la causa más directa del retraso y se conoce al liberar.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0000" y="1188000"/>
            <a:ext cx="3671999" cy="1655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02000" y="1295999"/>
            <a:ext cx="334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Auditoría de fuga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2000" y="1555200"/>
            <a:ext cx="334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Cada grupo de variables, revisado contra el día de la liberación.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Retiradas: los días de retraso, las fechas de entrada y de factura, los cambios de fecha posteriores y los maestros que el planificador ajusta después de ver retrasos.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2951999"/>
            <a:ext cx="367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Entidades: tasa encogida hacia su nivel superior</a:t>
            </a:r>
          </a:p>
        </p:txBody>
      </p:sp>
      <p:pic>
        <p:nvPicPr>
          <p:cNvPr id="15" name="Picture 14" descr="f_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6000" y="3204000"/>
            <a:ext cx="3528000" cy="4385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40000" y="3924000"/>
            <a:ext cx="3671999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Se calcula fuera de pliegue y agrupada por orden: una posición no ve su propio objetivo ni el de su orden. Un valor nuevo recibe la tasa de su padre (el proveedor, la de su región).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3 y 4: resultados/eda/asociacion.csv; src/datos.py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tiempo importa: partir al azar mediría con datos ya vistos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DERIVA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ser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176000" cy="19342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3240000"/>
            <a:ext cx="4176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No es estacionaria: ADF no rechaza la raíz unitaria (p = 0,70) y KPSS rechaza la estacionariedad (p = 0,026). Proveedores nuevos: 6,6 % en 2025 y 11,1 % en 2026.</a:t>
            </a:r>
          </a:p>
        </p:txBody>
      </p:sp>
      <p:pic>
        <p:nvPicPr>
          <p:cNvPr id="11" name="Picture 10" descr="adversar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4000" y="1152000"/>
            <a:ext cx="3888000" cy="16704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4000" y="2951999"/>
            <a:ext cx="3888000" cy="17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Validación adversaria: un XGBoost intenta adivinar de qué conjunto viene cada posición.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Al azar no puede (0,504). Por fecha acierta siempre (1,000), y sigue en 0,999 sin las variables que fechan la fila: muchas derivas pequeñas (IVA, región del centro, mezcla de líneas) bastan para reconocer el año.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405731"/>
                </a:solidFill>
                <a:latin typeface="Calibri"/>
              </a:rPr>
              <a:t>Por eso: partición cronológica, validación por ventanas crecientes y reentrenar con 2021-2025 antes de la prueba.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4 (tiempo y fuga): resultados/eda/ y resultados/similitud/auc.csv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XGBoost: el log-odds como suma de árboles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FORMULACIÓN DEL ALGORITMO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modelo</a:t>
            </a:r>
          </a:p>
        </p:txBody>
      </p:sp>
      <p:pic>
        <p:nvPicPr>
          <p:cNvPr id="10" name="Picture 9" descr="f_mode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04000"/>
            <a:ext cx="2767578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08000"/>
            <a:ext cx="52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Cada árbol f_m reparte el espacio de las predictoras en T hojas y da a cada hoja un peso w_j. Los árboles se construyen en secuencia: el m corrige lo que los m − 1 anteriores todavía predicen mal.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556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La pérdida: menos la log-verosimilitud de Bernoulli</a:t>
            </a:r>
          </a:p>
        </p:txBody>
      </p:sp>
      <p:pic>
        <p:nvPicPr>
          <p:cNvPr id="13" name="Picture 12" descr="f_perdi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808000"/>
            <a:ext cx="3261418" cy="223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131999"/>
            <a:ext cx="522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Es convexa en F y penaliza sin límite una probabilidad segura y equivocada: por eso produce probabilidades, no solo un orden.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000" y="3708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principio: descenso por gradiente en el espacio de funciones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3960000"/>
            <a:ext cx="5220000" cy="7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En vez de mover parámetros, cada iteración agrega una función (un árbol) en la dirección que más baja la pérdida (Friedman, 2001). XGBoost usa además la curvatura: un paso de Newton (Chen y Guestrin, 2016).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76000" y="1188000"/>
            <a:ext cx="2736000" cy="16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8000" y="1295999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Boosting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1555200"/>
            <a:ext cx="241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en secuencia, cada uno sobre los errores del anterior: baja el sesgo. Pide regularización para no sobreajustar.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76000" y="2988000"/>
            <a:ext cx="2736000" cy="17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8000" y="3096000"/>
            <a:ext cx="241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Bosque aleatorio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3355200"/>
            <a:ext cx="241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Árboles independientes y promediados: baja la varianza. Fue el segundo de los 112; la diferencia está en corregir el error en vez de promediarlo.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 (fundamentos); Friedman (2001), Chen y Guestrin (2016)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Cada árbol minimiza una aproximación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PRINCIPIO DE OPTIMIZACIÓN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El objetivo del árbol m: la pérdida más una penalización de su complejidad</a:t>
            </a:r>
          </a:p>
        </p:txBody>
      </p:sp>
      <p:pic>
        <p:nvPicPr>
          <p:cNvPr id="10" name="Picture 9" descr="f_o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2852645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44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Taylor de segundo orden alrededor de la predicción actual F_{m−1}</a:t>
            </a:r>
          </a:p>
        </p:txBody>
      </p:sp>
      <p:pic>
        <p:nvPicPr>
          <p:cNvPr id="12" name="Picture 11" descr="f_t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196000"/>
            <a:ext cx="2982163" cy="3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000" y="2700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Gradiente y hessiano de la log-pérdida: la derivación</a:t>
            </a:r>
          </a:p>
        </p:txBody>
      </p:sp>
      <p:pic>
        <p:nvPicPr>
          <p:cNvPr id="14" name="Picture 13" descr="f_deriv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2970000"/>
            <a:ext cx="7740000" cy="445903"/>
          </a:xfrm>
          <a:prstGeom prst="rect">
            <a:avLst/>
          </a:prstGeom>
        </p:spPr>
      </p:pic>
      <p:pic>
        <p:nvPicPr>
          <p:cNvPr id="15" name="Picture 14" descr="f_g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99" y="3510000"/>
            <a:ext cx="2322438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68000" y="3888000"/>
            <a:ext cx="4031999" cy="827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g_i, el gradiente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El residuo con signo: positivo si el modelo sobreestima el riesgo de una posición que llegó a tiempo.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0" y="3888000"/>
            <a:ext cx="4031999" cy="827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2000" y="3996000"/>
            <a:ext cx="370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h_i, el hessiano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2000" y="4255200"/>
            <a:ext cx="3707999" cy="41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varianza de Bernoulli: grande donde el modelo duda (p̂ cerca de 0,5) y pequeño donde ya está seguro.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8; Chen y Guestrin (2016)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Peso de hoja y ganancia de corte en forma cerrada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CÓMO SE CONSTRUYE CADA ÁRBOL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Peso óptimo de la hoja j</a:t>
            </a:r>
          </a:p>
        </p:txBody>
      </p:sp>
      <p:pic>
        <p:nvPicPr>
          <p:cNvPr id="10" name="Picture 9" descr="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1377890" cy="4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2015999"/>
            <a:ext cx="39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G_j y H_j la suma de g y h en la hoja, la aproximación es una parábola en w_j: su mínimo es un paso de Newton, el gradiente sobre la curvatura, encogido por 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736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Ganancia de partir una hoja en izquierda (L) y derecha (R): se corta solo si es positiva</a:t>
            </a:r>
          </a:p>
        </p:txBody>
      </p:sp>
      <p:pic>
        <p:nvPicPr>
          <p:cNvPr id="13" name="Picture 12" descr="f_gan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3006000"/>
            <a:ext cx="4671000" cy="4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63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Paso corto: cada árbol entra encogido por la tasa de aprendizaje</a:t>
            </a:r>
          </a:p>
        </p:txBody>
      </p:sp>
      <p:pic>
        <p:nvPicPr>
          <p:cNvPr id="15" name="Picture 14" descr="f_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888000"/>
            <a:ext cx="1506079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752000" y="1188000"/>
            <a:ext cx="3960000" cy="1440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3999" y="1295999"/>
            <a:ext cx="36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Búsqueda por histograma (hist)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3999" y="1555200"/>
            <a:ext cx="3636000" cy="10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Cada predictora se discretiza en a lo sumo 256 tramos y la ganancia se evalúa solo en sus bordes: buscar el mejor corte es recorrer un histograma, no ordenar las filas.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3671999"/>
            <a:ext cx="3960000" cy="1007999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2000" y="3736799"/>
            <a:ext cx="36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Contraste: la logística  </a:t>
            </a:r>
            <a:r>
              <a:rPr sz="1050" b="0">
                <a:solidFill>
                  <a:srgbClr val="1A1A1A"/>
                </a:solidFill>
                <a:latin typeface="Calibri"/>
              </a:rPr>
              <a:t>minimiza la misma log-pérdida con una sola recta, convexa y con un único óptimo. No ve interacciones ni umbrales sin construirlos; XGBoost los encuentra con los cortes.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8; Chen y Guestrin (2016)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ajuste crece casi lineal en n (exponente 0,91)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SUPUESTOS, REGULARIZACIÓN, COMPLEJIDAD Y GENERALIZACIÓN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391999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4000"/>
                <a:gridCol w="1033411"/>
                <a:gridCol w="1894588"/>
              </a:tblGrid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en la fórmula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qué controla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capacidad y costo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η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pasos cortos, mejor generalización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 ≤ 2^D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interacciones de hasta D variables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H_j ≥ c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hojas con suficiente evidencia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subsample, colsample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filas y columnas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azar que decorrelaciona árboles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reg_lambda, gamma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λ, γ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encoge pesos, cobra hojas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omplej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0" y="1152000"/>
            <a:ext cx="3671999" cy="267462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68000" y="3348000"/>
            <a:ext cx="2664000" cy="136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Supuestos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Filas independientes dado x (por eso los pliegues agrupan por orden); la relación de 2021-2025 sigue valiendo en 2026; no supone linealidad ni normalidad.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0" y="3348000"/>
            <a:ext cx="2664000" cy="136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999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Complejidad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999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Ajuste O(M·D·n·d′) por histograma; predicción O(M·D). Medido: 162 s con 311.865 filas; 16,8 ms por cada 1.000 predicciones.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2000" y="3348000"/>
            <a:ext cx="2700000" cy="136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3999" y="345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Generalización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3999" y="3715200"/>
            <a:ext cx="2376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Regularización más validación por ventanas en el tiempo; una entidad nueva recibe la tasa de su nivel superior.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8: resultados/complejidad.csv (tiempos medidos en srvgdai)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Hacia adelante en el tiempo, con el mismo presupuesto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DISEÑO EXPERIMENTAL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f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224000"/>
            <a:ext cx="4608000" cy="2203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8000" y="1674000"/>
            <a:ext cx="36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6000" y="1674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4000" y="1674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8000" y="1684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1897200"/>
            <a:ext cx="73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4000" y="1897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2000" y="1897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5999" y="1908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2120400"/>
            <a:ext cx="111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02000" y="2120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80000" y="2120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4000" y="2131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2343600"/>
            <a:ext cx="1494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80000" y="23436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58000" y="23436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000" y="23544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" y="2566800"/>
            <a:ext cx="1872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58000" y="25668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36000" y="25668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0000" y="25776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2790000"/>
            <a:ext cx="225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36000" y="2790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14000" y="2790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8000" y="2800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8000" y="3013200"/>
            <a:ext cx="262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14000" y="3013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3013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06000" y="3024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8000" y="3236400"/>
            <a:ext cx="300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3236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70000" y="3236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84000" y="3247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000" y="354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405731"/>
                </a:solidFill>
                <a:latin typeface="Calibri"/>
              </a:rPr>
              <a:t>verde: entrena   </a:t>
            </a:r>
            <a:r>
              <a:rPr sz="950" b="0">
                <a:solidFill>
                  <a:srgbClr val="5A5A5A"/>
                </a:solidFill>
                <a:latin typeface="Calibri"/>
              </a:rPr>
              <a:t>gris: valida adentro (elige hiperparámetros)   </a:t>
            </a:r>
            <a:r>
              <a:rPr sz="950" b="1">
                <a:solidFill>
                  <a:srgbClr val="B08A2D"/>
                </a:solidFill>
                <a:latin typeface="Calibri"/>
              </a:rPr>
              <a:t>oro: evalúa (bucle externo)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000" y="3816000"/>
            <a:ext cx="4680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Bucle externo: 8 semestres, cada uno predicho con todo lo anterior. Bucle interno: el último semestre de cada ventana elige los hiperparámetros. La prueba 2026 no entra en nada de esto.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00000" y="1188000"/>
            <a:ext cx="3311999" cy="1655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62000" y="1295999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balanceos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62000" y="1555200"/>
            <a:ext cx="2987999" cy="124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Ninguno, SMOTE, ADASYN y pesos de clase, siempre dentro del pipeline y solo sobre el entrenamiento de cada ventana: lo sintético nunca llega a la evaluación.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00000" y="2951999"/>
            <a:ext cx="3311999" cy="176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62000" y="3060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4 optimizadores, mismo presupuesto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62000" y="3319199"/>
            <a:ext cx="2987999" cy="13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20 evaluaciones por combinación y bloque para Grid, Random, Optuna (TPE) y DEAP (genético). Medias y desviaciones salen de los 8 bloques externos.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6 (las 112): src/validacion.py, src/experimentos.py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Implementación: un pipeline, un espacio de búsqueda y pruebas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IMPLEMENTACIÓN E HIPERPARÁMETROS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535999" cy="17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941"/>
                <a:gridCol w="1423058"/>
                <a:gridCol w="1512000"/>
              </a:tblGrid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espacio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elegido (8 bloques)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100 a 600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266 a 587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0,01 a 0,3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0,02 a 0,12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4 a 10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 a 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0,52 a 0,94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colsample_bytree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 a 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0,31 a 0,86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 a 100 (log)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8,91 a 38,19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060000"/>
            <a:ext cx="4536000" cy="82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un semestre de entrenamiento gana un modelo de muchos árboles poco profundos; con más datos la profundidad sube a 7-10 y el submuestreo baja. Cerca del óptimo la superficie es plana: configuraciones distintas dan AUC a milésimas.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536000" cy="756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4176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Reproducible:  </a:t>
            </a:r>
            <a:r>
              <a:rPr sz="1050" b="0">
                <a:solidFill>
                  <a:srgbClr val="1A1A1A"/>
                </a:solidFill>
                <a:latin typeface="Calibri"/>
              </a:rPr>
              <a:t>semilla 2026; un JSON por trabajo con parámetros y métricas; 201 horas de CPU en el servidor del grupo, 30 trabajos a la vez.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6000" y="1188000"/>
            <a:ext cx="3456000" cy="17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1295999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Un solo pipeline de scikit-learn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8000" y="1555200"/>
            <a:ext cx="3131999" cy="13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preprocesador (log, imputación, one-hot, codificación por objetivo) → balanceo → modelo;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el preprocesador se ajusta solo con el entrenamiento de cada ventana.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6000" y="3024000"/>
            <a:ext cx="3456000" cy="169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8000" y="3132000"/>
            <a:ext cx="313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Pruebas e integración continua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8000" y="3391200"/>
            <a:ext cx="3131999" cy="12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57 pruebas con pytest (codificación fuera de pliegue, series, modelo servido, tablero, que no se publiquen identificadores) que corren en GitHub en cada cambio.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src/experimentos.py (ESPACIOS), resultados/experimentos/trabajos/*.json, tests/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Optuna llega antes; con 20 evaluaciones empatan los cuatro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PANTALLA EN VIVO: LAS 112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timiz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536000" cy="30780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48000" y="1224000"/>
          <a:ext cx="3563998" cy="1187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048"/>
                <a:gridCol w="1651609"/>
                <a:gridCol w="782341"/>
              </a:tblGrid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optimizador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perdido a 5 evaluaciones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 20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0,0064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DEAP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0,0148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0,0417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48000" y="2556000"/>
            <a:ext cx="3564000" cy="2160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0000" y="2664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2E3BE"/>
                </a:solidFill>
                <a:latin typeface="Calibri"/>
              </a:rPr>
              <a:t>EN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0000" y="2916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9E2D2"/>
                </a:solidFill>
                <a:latin typeface="Calibri"/>
              </a:rPr>
              <a:t>otif-compras-ml.onrender.com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0000" y="3204000"/>
            <a:ext cx="3240000" cy="14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1. Modelos → Las 112 combinaciones.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2. Tabla de líderes: las mejores combinaciones, con media ± desviación del bucle externo.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3. Mapa balanceo × optimizador de XGBoost: el balanceo casi no mueve el AUC.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 (otif-compras-ml.onrender.com); data/modelos/curvas_optimizador.csv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 gana los 8 bloques: AUC 0,852 contra 0,843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MÉTRICAS, LÍNEA BASE Y COMPARACIÓN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896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000"/>
                <a:gridCol w="994500"/>
                <a:gridCol w="612000"/>
                <a:gridCol w="535500"/>
                <a:gridCol w="612000"/>
              </a:tblGrid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modelo (mejor combinación)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± desv.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ms / 1.000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XGBoost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0,852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0,778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Random Forest · SMOTE · 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0,843 ± 0,023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31,8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Logística (SGD) · pesos · Grid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0,751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SVM lineal (SGD) · pesos · Random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Árbol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0,810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0,715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0,634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KNN (PCA 30) · SMOTE · Optuna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0,781 ± 0,044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1.414,6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Naive Bayes · SMOTE · DEAP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0,735 ± 0,069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0,566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0,556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29,4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311999"/>
            <a:ext cx="489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AUC ordena por riesgo sin depender del umbral; PR-AUC atiende a la clase de interés; F1 mide la decisión al umbral; Brier y ECE dicen si la probabilidad es creíble.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8000" y="3671999"/>
          <a:ext cx="4895998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557"/>
                <a:gridCol w="1444721"/>
                <a:gridCol w="722360"/>
                <a:gridCol w="722360"/>
              </a:tblGrid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prueba 2026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[BCa 95 %]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ECE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regla del proveedor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0,509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0,055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0,021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70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XGBoost, con Platt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0,848 [0,835; 0,860]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0,022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616000" y="1188000"/>
            <a:ext cx="3096000" cy="244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8000" y="1295999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Cómo leer la tabla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8000" y="1555200"/>
            <a:ext cx="2771999" cy="20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Media y desviación de los 8 bloques externos: cada cifra se midió en un semestre que el modelo no vio.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línea base son la regla del proveedor (su tasa previa de retraso) y la logística, medidas en 2026.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Frente a la logística, con el mismo 20 % de alertas: 35 tardías más por mes, 17 de material sin stock.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6000" y="3744000"/>
            <a:ext cx="3096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78000" y="3852000"/>
            <a:ext cx="2771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De la validación a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8000" y="4111200"/>
            <a:ext cx="2771999" cy="55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AUC interno 0,854, bloques externos 0,852, prueba 2026 0,848: no cae.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6 y 7: data/modelos/lideres.csv; resultados/prueba_2026/metricas.csv, brecha.csv, criticas.csv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Tablero: una predicción en vivo, y la prueba de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PANTALLA EN VIVO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tablero_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00" y="1296000"/>
            <a:ext cx="3888000" cy="243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1116000"/>
            <a:ext cx="3888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captura de respaldo, por si el tablero no carga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3960000"/>
            <a:ext cx="4104000" cy="75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000" y="4024800"/>
            <a:ext cx="3744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En vivo (Modelos → Predicción):  </a:t>
            </a:r>
            <a:r>
              <a:rPr sz="1050" b="0">
                <a:solidFill>
                  <a:srgbClr val="FFFFFF"/>
                </a:solidFill>
                <a:latin typeface="Calibri"/>
              </a:rPr>
              <a:t>cargar una posición real, cambiar el plazo hábil al liberar y ver cómo se mueven el riesgo y sus contribuciones.</a:t>
            </a:r>
          </a:p>
        </p:txBody>
      </p:sp>
      <p:pic>
        <p:nvPicPr>
          <p:cNvPr id="13" name="Picture 12" descr="rangos_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000" y="972000"/>
            <a:ext cx="3744000" cy="23795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24000" y="3564000"/>
            <a:ext cx="3888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Friedman: χ² = 45,6, p &lt; 0,001: los 7 modelos no rinden igual.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Nemenyi no separa a XGBoost de la logística ni del bosque (diferencia crítica 3,19); Wilcoxon por pares sí: gana los 8 bloques, p de Holm = 0,047.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Dentro de cada bloque, DeLong con Holm: supera al bosque en 6 de 8 y a la logística en 7, sin perder en ninguno. Ventaja 0,009-0,012 de AUC, con BCa por órdenes lejos de cero.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tablero, página Modelos; data/modelos/friedman.csv, wilcoxon.csv; resultados/pruebas/resumen.csv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Sobreajuste bajo: 0,003 de AUC entre interno y externo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ANÁLISIS DE ERRORES Y SOBREAJUSTE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interno_exte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3960000" cy="2188421"/>
          </a:xfrm>
          <a:prstGeom prst="rect">
            <a:avLst/>
          </a:prstGeom>
        </p:spPr>
      </p:pic>
      <p:pic>
        <p:nvPicPr>
          <p:cNvPr id="10" name="Picture 9" descr="aprendizaj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1152000"/>
            <a:ext cx="2232000" cy="1584550"/>
          </a:xfrm>
          <a:prstGeom prst="rect">
            <a:avLst/>
          </a:prstGeom>
        </p:spPr>
      </p:pic>
      <p:pic>
        <p:nvPicPr>
          <p:cNvPr id="11" name="Picture 10" descr="calibr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0" y="1152000"/>
            <a:ext cx="1908000" cy="1771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000" y="3348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bloque 2025-S1 baja de 0,894 adentro a 0,846 afuera: es el semestre en que cambia la mezcla de 2025 (diapositiva 8), no un modelo que memoriza.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6000" y="3348000"/>
            <a:ext cx="417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Logística (modelo base): 0,868 en entrenamiento y 0,830 en validación con todas las filas; bien calibrada en 2026 (ECE 0,021).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3996000"/>
            <a:ext cx="8243999" cy="61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000" y="4060800"/>
            <a:ext cx="788399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Errores de XGBoost en 2026:  </a:t>
            </a:r>
            <a:r>
              <a:rPr sz="1050" b="0">
                <a:solidFill>
                  <a:srgbClr val="FFFFFF"/>
                </a:solidFill>
                <a:latin typeface="Calibri"/>
              </a:rPr>
              <a:t>de 16.374 tardías marcó 11.341 (69 %), con 5.889 falsas alarmas. AUC 0,856 con todo conocido y 0,821 con alguna entidad nueva; ganadería, 0,712. El falso negativo típico tenía plazo amplio y un proveedor puntual: el retraso se decide en la ejecución.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6 y 7: resultados/experimentos/por_bloque.csv, resultados/prueba_2026/segmentos.csv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modelo original le gana al óptimo de las 112 por 0,012 de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MODELO ORIGINAL (ENTREGABLE 3)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Efectos por entidad sobre un boosting, con cortes ordenados</a:t>
            </a:r>
          </a:p>
        </p:txBody>
      </p:sp>
      <p:pic>
        <p:nvPicPr>
          <p:cNvPr id="10" name="Picture 9" descr="f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04000"/>
            <a:ext cx="5148000" cy="2147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692000"/>
            <a:ext cx="5220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d_i: días de retraso; se predice en c = 1 (y_tarde) y aprende también de cuánto se atrasó. b_e: intercepto aleatorio por proveedor, material, solicitante y comprador, encogido hacia 0 (σ²_e por EM). K3: los árboles ven efectos estimados solo con los semestres anteriores, como al predecir.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23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f es un LightGBM, no un 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000" y="2448000"/>
            <a:ext cx="5220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Misma suma de árboles, misma log-pérdida y mismo peso de hoja −G/(H + λ) (diapositiva 11). Difiere en cómo crece el árbol: por hoja, partiendo la de mayor ganancia hasta 110 hojas, y no por niveles (XGBoost: profundidad 10). Aquí toma Σ b_e como desplazamiento fijo del logit y es monótono decreciente en 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000" y="3024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Plazo log-normal y plazo real</a:t>
            </a:r>
          </a:p>
        </p:txBody>
      </p:sp>
      <p:pic>
        <p:nvPicPr>
          <p:cNvPr id="15" name="Picture 14" descr="f_lognorm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3240000"/>
            <a:ext cx="4140000" cy="2487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8000" y="3546000"/>
            <a:ext cx="522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z: cuánto alcanza la promesa frente al plazo real esperado (un LightGBM sin la promesa). Más 32 variables de plazo real: mediana y percentil 80 de las últimas 20 entregas, y la holgura empírica.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832000" y="1188000"/>
          <a:ext cx="2880000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000"/>
                <a:gridCol w="972000"/>
                <a:gridCol w="972000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2026, AUC [BCa 95 %]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136 del dataset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136 + 32 nuevas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0,848 [0,835; 0,860]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0,858 [0,846; 0,869]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Calibri"/>
                        </a:rPr>
                        <a:t>K3, sin log-normal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0,854 [0,841; 0,865]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0,858 [0,844; 0,869]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  <a:latin typeface="Calibri"/>
                        </a:rPr>
                        <a:t>Propuesta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0,856 [0,843; 0,868]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Calibri"/>
                        </a:rPr>
                        <a:t>0,860 [0,847; 0,871]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5832000" y="2556000"/>
            <a:ext cx="2880000" cy="140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93999" y="2664000"/>
            <a:ext cx="255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Lectura de la 2 ×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93999" y="2923199"/>
            <a:ext cx="2556000" cy="9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Calibri"/>
              </a:rPr>
              <a:t>Con las 136, la estructura suma 0,008 [0,003; 0,014].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Calibri"/>
              </a:rPr>
              <a:t>El plazo real le da a XGBoost 0,010 [0,006; 0,014]; con él, la ventaja de la estructura baja a 0,002, sin significancia.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Calibri"/>
              </a:rPr>
              <a:t>El log-normal suma 0,003; su intervalo toca el cero.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000" y="4031999"/>
            <a:ext cx="8243999" cy="684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000" y="4096799"/>
            <a:ext cx="788399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Por qué el tablero sirve XGBoost:  </a:t>
            </a:r>
            <a:r>
              <a:rPr sz="1050" b="0">
                <a:solidFill>
                  <a:srgbClr val="FFFFFF"/>
                </a:solidFill>
                <a:latin typeface="Calibri"/>
              </a:rPr>
              <a:t>la propuesta necesita la historia de entregas de cada entidad, que no se publica. Es la tercera mirada a 2026: exploratoria. En las órdenes con alguna entidad nueva no gana: el arranque en frío sigue abierto.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9: resultados/prueba_2026/dos_por_dos.csv y contrastes.csv; tablero: Modelos → Modelo original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En otros datos, la propuesta gana donde hay historia por entidad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VALIDACIÓN EN CONJUNTOS PÚBLICOS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5183997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301"/>
                <a:gridCol w="639123"/>
                <a:gridCol w="568109"/>
                <a:gridCol w="1278246"/>
                <a:gridCol w="497095"/>
                <a:gridCol w="639123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conjunto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XGBoost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K3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[IC 95 %]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 Holm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veredicto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Vuelos (Airlines)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0,635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0,634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-0,002 [-0,006; 0,003]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0,965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empate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Acceso (Amazon)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0,870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0,856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-0,013 [-0,022; -0,004]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0,038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K3 pierde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Publicidad (Click)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0,707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0,699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-0,008 [-0,014; -0,002]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0,043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K3 pierde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Buses de Nueva York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0,846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-0,002 [-0,004; 0,001]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0,632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empate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Transporte de Zúrich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0,832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0,833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0,001 [-0,008; 0,008]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0,965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empate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Reingreso (Diabetes130US)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0,675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0,016 [0,008; 0,024]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K3 gana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  <a:latin typeface="Calibri"/>
                        </a:rPr>
                        <a:t>Citas no asistidas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0,732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0,737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0,005 [0,003; 0,008]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&lt; 0,001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  <a:latin typeface="Calibri"/>
                        </a:rPr>
                        <a:t>K3 gana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68000" y="3851999"/>
            <a:ext cx="5184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Mismo protocolo para los dos: Optuna con 20 evaluaciones en validación, una medida en la prueba, DeLong pareado con Holm sobre los siete. La segunda ronda (filas 4 a 7) se eligió con un criterio fijado antes de correr. El plazo log-normal y las variables nuevas no aplican fuera de OTIF.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68000" y="1188000"/>
            <a:ext cx="2844000" cy="230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0000" y="1295999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Lectura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0000" y="1555200"/>
            <a:ext cx="2520000" cy="18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Gana 2, empata 3, pierde 2; Wilcoxon p = 0,81: no hay superioridad general.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Gana donde la entidad vuelve (el paciente), como el proveedor en OTIF.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Empata en transporte; pierde sin tiempo ni desenlace continuo.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68000" y="3600000"/>
            <a:ext cx="2844000" cy="111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48000" y="3664800"/>
            <a:ext cx="2484000" cy="10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2E3BE"/>
                </a:solidFill>
                <a:latin typeface="Calibri"/>
              </a:rPr>
              <a:t>Cuidado:  </a:t>
            </a:r>
            <a:r>
              <a:rPr sz="1050" b="0">
                <a:solidFill>
                  <a:srgbClr val="FFFFFF"/>
                </a:solidFill>
                <a:latin typeface="Calibri"/>
              </a:rPr>
              <a:t>esa separación se vio después de la segunda ronda; confirmarla pide una tercera fijada antes de correr.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10: original/publicos_otif_resumen.csv (OpenML); tablero: Modelos → Modelo original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retraso se puede anticipar el día de la liberación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CONCLUSIONES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81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224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Se puede ordenar por riesgo al liberar: AUC 0,852 medido hacia adelante en el tiempo, contra 0,670 de la regla del proveedor en 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000" y="1965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1908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señal está en el plazo, el historial del proveedor y las entidades; ninguna variable sola basta.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649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591999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XGBoost gana de forma significativa y material: en 2026, AUC 0,848 contra 0,825 de la logística, y más tardías atrapadas con las mismas alertas.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3333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3276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El optimizador importa con poco presupuesto; el balanceo casi no mueve el AUC.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01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4000" y="3960000"/>
            <a:ext cx="4608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A1A1A"/>
                </a:solidFill>
                <a:latin typeface="Calibri"/>
              </a:rPr>
              <a:t>La partición cronológica no es un detalle: al azar, el problema parecería más fácil de lo que es.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544000" y="1224000"/>
          <a:ext cx="3168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400"/>
                <a:gridCol w="1425600"/>
              </a:tblGrid>
              <a:tr h="3456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cumplido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comparar las 112 con el mismo presupuesto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costo de las entidades nuevas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AUC 0,82 contra 0,86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modelo servido en el tablero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sí, XGBoost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modelo original contra el óptimo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+0,012 de AUC [0,004; 0,018]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5544000" y="3096000"/>
            <a:ext cx="3168000" cy="1620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3160800"/>
            <a:ext cx="2808000" cy="15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2E3BE"/>
                </a:solidFill>
                <a:latin typeface="Calibri"/>
              </a:rPr>
              <a:t>Para el negocio:  </a:t>
            </a:r>
            <a:r>
              <a:rPr sz="1150" b="0">
                <a:solidFill>
                  <a:srgbClr val="FFFFFF"/>
                </a:solidFill>
                <a:latin typeface="Calibri"/>
              </a:rPr>
              <a:t>marcando el 33 % de las posiciones, XGBoost ve venir el 69 % de las tardías de 2026. Por órdenes: siguiendo el 39 % se ve venir el 69 % de las órdenes con retraso.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 a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Límites: deriva, etiqueta que madura y una sola empresa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LIMITACIONES Y MEJORAS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2664000" cy="35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Teóricas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Independencia dado x: las posiciones de una orden se parecen; se protege agrupando, no se modela.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Estabilidad: el modelo supone que la relación de 2021-2025 vale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etiqueta binaria desperdicia los días de retraso.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1188000"/>
            <a:ext cx="2664000" cy="352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999" y="1295999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Empíricas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999" y="1555200"/>
            <a:ext cx="2340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Deriva: 2025 se distingue de 2021-2024 casi por completo.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etiqueta de lo más reciente madura tarde (censura al final del periodo).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en foto actual, no con su vigencia histórica.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Arranque en frío: 11,1 % de proveedores nuevos en 2026.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Una sola empresa: la generalización a otros grupos no está probada.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2000" y="1188000"/>
            <a:ext cx="2700000" cy="352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3999" y="1295999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Mejoras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3999" y="1555200"/>
            <a:ext cx="2376000" cy="311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Reentrenar por semestre y vigilar la deriva con la validación adversaria.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Efectos aleatorios por proveedor y material para el arranque en frío.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Usar los días de retraso con cortes ordenados (el modelo original del Entregable 3).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Maestros con vigencia por fecha.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4, 6 y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05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000" y="2015999"/>
            <a:ext cx="79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000" y="2664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2880000"/>
            <a:ext cx="7920000" cy="1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Tablero         otif-compras-ml.onrender.com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4392000"/>
            <a:ext cx="79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2E3BE"/>
                </a:solidFill>
                <a:latin typeface="Calibri"/>
              </a:rPr>
              <a:t>Responden los dos autores (criterio 7: dominio individual).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