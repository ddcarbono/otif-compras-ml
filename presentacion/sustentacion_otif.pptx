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9144000" cy="5144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[0:15 · criterio 1 · expone A] Presentarse los dos y dejar las tres direcciones en pantalla. Render ya abierto desde antes: el plan gratuito se duerme.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[0:45 · criterio 1 · expone A] El problema en una frase y su magnitud. La tercera cifra es del modelo base en 2026 y ya está en el libro: marcando poco más de un tercio, se ven venir siete de cada diez tardías.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[1:00 · criterio 1 · expone A] x, y, el modelo Bernoulli, la log-pérdida como menos log-verosimilitud y el umbral. Insistir: τ sale de 2025 y 2026 no elige nada.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[0:45 · criterio 2 · expone A] Pantalla en vivo. Si el tablero no carga, la captura queda en la diapositiva. Mostrar el filtro por línea: industrial y palma llegan tarde más que banano y ganadería.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[0:45 · criterio 2 · expone A] Fuente y estructura. La unidad independiente es la orden: por eso los pliegues se agrupan por orden. La partición es cronológica.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[0:30 · criterio 2 · expone A] Distribuciones: colas largas, transformación justificada. Faltantes: el mecanismo es estructural, no aleatorio. Atípicos: tienen más retraso, se quedan.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[0:30 · criterio 2 · expone A] Relaciones: la señal está repartida. Fuga: lo que se retiró y por qué, y la codificación por objetivo fuera de pliegue, que es la fuga más fácil de cometer aquí.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[0:30 · criterio 2 · expone A] Tres pruebas de que el tiempo importa: la serie no es estacionaria, hay entidades nuevas y la validación adversaria reconoce el año aun sin las variables de reloj.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[1:15 · criterio 3 · expone B] Qué es el modelo, qué pérdida minimiza y por qué esa pérdida (Bernoulli). Principio: gradiente en el espacio de funciones. Contraste con el bosque: sesgo contra varianza.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[1:15 · criterio 3 · expone B] Derivar en voz alta: σ′ = σ(1 − σ); dℓ/dF = σ − y; d²ℓ/dF² = σ(1 − σ). γ cobra por hoja y λ encoge los pesos. Es la derivación que más preguntan.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[1:15 · criterio 3 · expone B] w* = −G/(H + λ) sale de derivar la parábola e igualar a cero. La ganancia compara la pérdida óptima de las dos hojas hijas con la de la madre; γ es el costo de una hoja más.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[1:15 · criterio 3 · expone B] Cada hiperparámetro y dónde vive en la fórmula. Complejidad: teoría y medición coinciden; el exponente 0,91 en log-log es casi lineal. Supuesto clave: independencia dado x, que la agrupación por orden protege.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[0:45 · criterio 4 · expone B] Validación anidada: el externo mide, el interno elige. Mismo presupuesto para comparar optimizadores de forma justa. La prueba 2026 se mira una vez, al 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[0:45 · criterio 4 · expone B] Por qué ese espacio: rangos usuales de la literatura, escala logarítmica donde el efecto es multiplicativo (tasa, peso mínimo). Decisiones computacionales: matrices preprocesadas en disco, SMOTE calculado una vez por ventana.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[0:45 · criterio 4 · expone A] Optuna (TPE) aprende de los ensayos y propone donde la mejora esperada es mayor; DEAP llega tarde pero llega. Con poco presupuesto conviene Optuna; con 20 la superficie es plana.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[1:00 · criterio 5 · expone B] Por qué cada métrica. En los bloques la ganancia es de una centésima frente al bosque y la logística. En 2026, medido una vez con lo congelado en 2025, XGBoost da 0,848 y le saca 0,023 a la logística. La brecha no muestra caída de la validación a la prueba. Por qué XGBoost y no la logística: un retraso cuesta más que una falsa alarma, y con el mismo esfuerzo de revisión atrapa 347 tardías más en 2026 (BCa por órdenes [150; 569]); las de material sin stock tienen un intervalo que roza el cero. Entrenar tarda minutos: se puede reentrenar cada 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[1:00 · criterio 5 · expone A] En vivo: la predicción la sirve XGBoost con Platt, con sus contribuciones SHAP exactas. Pruebas: Friedman rechaza la igualdad; Nemenyi es conservador con 8 bloques; el Wilcoxon pareado con Holm separa porque XGBoost gana en cada bloque. DeLong mira dentro de cada bloque (validado contra pROC); como supone filas independientes, se lee con el BCa que remuestrea órdenes. Cliff con el bosque: pequeño (0,25).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[0:45 · criterio 5 · expone B] Sobreajuste en dos vistas: interno contra externo por bloque y la curva de aprendizaje. En 2026, el error se concentra en las órdenes con entidades nuevas y en ganadería; el falso negativo típico no se podía ver al liberar.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[1:00 · criterio 6 · expone A] Responde «¿y en otros datos?». La ganancia de la propuesta en OTIF (0,012) depende de rasgos del caso: entidades con historia en el tiempo, desenlace continuo y plazo prometido. Airlines no trae el año: su partición es por mes. No decir que generaliza: es una hipótesis con apoyo.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[1:00 · criterio 6 · expone A] Responder la pregunta con cifras y el veredicto de cada objetivo. El modelo original del Entregable 3 le gana al óptimo de las 112 por 0,012 en 2026 (pestaña Modelo original del tablero); el tablero sirve el XGBoost porque la propuesta necesita la historia de entregas de cada entidad, que no se publica.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[1:00 · criterio 6 · expone B] Separar lo teórico (supuestos del modelo) de lo empírico (los datos). Las mejoras apuntan al modelo original.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[2:00 · criterio 7 · expone A y B] Preparar: derivar g, h y w*; por qué la codificación va fuera de pliegue; por qué la prueba no elige nada; por qué Nemenyi y Wilcoxon dicen cosas distintas; qué pasa con un proveedor nuevo.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.pn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.pn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1.png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168000" cy="5144400"/>
          </a:xfrm>
          <a:prstGeom prst="rect">
            <a:avLst/>
          </a:prstGeom>
          <a:solidFill>
            <a:srgbClr val="405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68000" y="503999"/>
            <a:ext cx="1404000" cy="10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480" y="687600"/>
            <a:ext cx="1067040" cy="7992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68000" y="1872000"/>
            <a:ext cx="2448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Calibri"/>
              </a:rPr>
              <a:t>UNIVERSIDAD DEL NORTE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8000" y="2160000"/>
            <a:ext cx="2448000" cy="57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D9E2D2"/>
                </a:solidFill>
                <a:latin typeface="Calibri"/>
              </a:rPr>
              <a:t>Maestría en Estadística Aplicada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D9E2D2"/>
                </a:solidFill>
                <a:latin typeface="Calibri"/>
              </a:rPr>
              <a:t>Machine Learning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468000" y="3816000"/>
            <a:ext cx="648000" cy="36000"/>
          </a:xfrm>
          <a:prstGeom prst="rect">
            <a:avLst/>
          </a:prstGeom>
          <a:solidFill>
            <a:srgbClr val="B08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8000" y="3996000"/>
            <a:ext cx="2448000" cy="57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Daniel Carbonó Domínguez</a:t>
            </a:r>
          </a:p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Luis Pérez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8000" y="4536000"/>
            <a:ext cx="2448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D9E2D2"/>
                </a:solidFill>
                <a:latin typeface="Calibri"/>
              </a:rPr>
              <a:t>Octubre de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00000" y="936000"/>
            <a:ext cx="486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405731"/>
                </a:solidFill>
                <a:latin typeface="Calibri"/>
              </a:rPr>
              <a:t>CLASIFICACIÓN BINARIA SUPERVISADA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0000" y="1332000"/>
            <a:ext cx="5184000" cy="151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Predicción del incumplimiento de órdenes de compra en la agroindustria de la palma de aceite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00000" y="2916000"/>
            <a:ext cx="827999" cy="36000"/>
          </a:xfrm>
          <a:prstGeom prst="rect">
            <a:avLst/>
          </a:prstGeom>
          <a:solidFill>
            <a:srgbClr val="B08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00000" y="3096000"/>
            <a:ext cx="5040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A5A5A"/>
                </a:solidFill>
                <a:latin typeface="Calibri"/>
              </a:rPr>
              <a:t>406.126 posiciones de 104.614 órdenes de compra, 2021-2026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000" y="3744000"/>
            <a:ext cx="5040000" cy="86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8C8C8C"/>
                </a:solidFill>
                <a:latin typeface="Calibri"/>
              </a:rPr>
              <a:t>Repositorio   github.com/ddcarbono/otif-compras-ml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8C8C8C"/>
                </a:solidFill>
                <a:latin typeface="Calibri"/>
              </a:rPr>
              <a:t>Libro            ddcarbono.github.io/otif-compras-ml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8C8C8C"/>
                </a:solidFill>
                <a:latin typeface="Calibri"/>
              </a:rPr>
              <a:t>Tablero         otif-compras-ml.onrender.com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76000"/>
          </a:xfrm>
          <a:prstGeom prst="rect">
            <a:avLst/>
          </a:prstGeom>
          <a:solidFill>
            <a:srgbClr val="405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76000"/>
            <a:ext cx="9144000" cy="36000"/>
          </a:xfrm>
          <a:prstGeom prst="rect">
            <a:avLst/>
          </a:prstGeom>
          <a:solidFill>
            <a:srgbClr val="B08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4000" y="72000"/>
            <a:ext cx="468000" cy="43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160" y="145440"/>
            <a:ext cx="355680" cy="26641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92000" y="125999"/>
            <a:ext cx="8172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Uno de cada tres pedidos llega tarde, y se sabe cuando ya pasó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8000" y="756000"/>
            <a:ext cx="7308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B08A2D"/>
                </a:solidFill>
                <a:latin typeface="Calibri"/>
              </a:rPr>
              <a:t>CRITERIO 1  ·  EL PROBLEMA</a:t>
            </a:r>
          </a:p>
        </p:txBody>
      </p:sp>
      <p:sp>
        <p:nvSpPr>
          <p:cNvPr id="8" name="Rectangle 7"/>
          <p:cNvSpPr/>
          <p:nvPr/>
        </p:nvSpPr>
        <p:spPr>
          <a:xfrm>
            <a:off x="468000" y="1044000"/>
            <a:ext cx="468000" cy="36000"/>
          </a:xfrm>
          <a:prstGeom prst="rect">
            <a:avLst/>
          </a:prstGeom>
          <a:solidFill>
            <a:srgbClr val="B08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8000" y="1224000"/>
            <a:ext cx="1944000" cy="972000"/>
          </a:xfrm>
          <a:prstGeom prst="rect">
            <a:avLst/>
          </a:prstGeom>
          <a:solidFill>
            <a:srgbClr val="E8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58000" y="1224000"/>
            <a:ext cx="1764000" cy="36000"/>
          </a:xfrm>
          <a:prstGeom prst="rect">
            <a:avLst/>
          </a:prstGeom>
          <a:solidFill>
            <a:srgbClr val="B08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000" y="1350000"/>
            <a:ext cx="1944000" cy="46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400" b="1">
                <a:solidFill>
                  <a:srgbClr val="405731"/>
                </a:solidFill>
                <a:latin typeface="Calibri"/>
              </a:rPr>
              <a:t>33,0 %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000" y="1854000"/>
            <a:ext cx="1944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5A5A5A"/>
                </a:solidFill>
                <a:latin typeface="Calibri"/>
              </a:rPr>
              <a:t>de las posiciones llega tarde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8000" y="2304000"/>
            <a:ext cx="1944000" cy="972000"/>
          </a:xfrm>
          <a:prstGeom prst="rect">
            <a:avLst/>
          </a:prstGeom>
          <a:solidFill>
            <a:srgbClr val="F5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8000" y="2304000"/>
            <a:ext cx="1764000" cy="36000"/>
          </a:xfrm>
          <a:prstGeom prst="rect">
            <a:avLst/>
          </a:prstGeom>
          <a:solidFill>
            <a:srgbClr val="B08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8000" y="2430000"/>
            <a:ext cx="1944000" cy="46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400" b="1">
                <a:solidFill>
                  <a:srgbClr val="405731"/>
                </a:solidFill>
                <a:latin typeface="Calibri"/>
              </a:rPr>
              <a:t>41 %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000" y="2934000"/>
            <a:ext cx="1944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5A5A5A"/>
                </a:solidFill>
                <a:latin typeface="Calibri"/>
              </a:rPr>
              <a:t>en industrial; 25 % en ganaderia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8000" y="3384000"/>
            <a:ext cx="1944000" cy="972000"/>
          </a:xfrm>
          <a:prstGeom prst="rect">
            <a:avLst/>
          </a:prstGeom>
          <a:solidFill>
            <a:srgbClr val="EE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58000" y="3384000"/>
            <a:ext cx="1764000" cy="36000"/>
          </a:xfrm>
          <a:prstGeom prst="rect">
            <a:avLst/>
          </a:prstGeom>
          <a:solidFill>
            <a:srgbClr val="B08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8000" y="3510000"/>
            <a:ext cx="1944000" cy="46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400" b="1">
                <a:solidFill>
                  <a:srgbClr val="405731"/>
                </a:solidFill>
                <a:latin typeface="Calibri"/>
              </a:rPr>
              <a:t>71 %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8000" y="4014000"/>
            <a:ext cx="1944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5A5A5A"/>
                </a:solidFill>
                <a:latin typeface="Calibri"/>
              </a:rPr>
              <a:t>de las tardías de 2026, marcando el 38 %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36000" y="1188000"/>
            <a:ext cx="3311999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405731"/>
                </a:solidFill>
                <a:latin typeface="Calibri"/>
              </a:rPr>
              <a:t>Por qué importa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36000" y="1440000"/>
            <a:ext cx="3311999" cy="12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El comprador hoy se entera del retraso cuando la mercancía no llega. Con miles de posiciones abiertas, no puede seguirlas todas: necesita saber, el día en que libera la orden, cuáles vigilar.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36000" y="2628000"/>
            <a:ext cx="3311999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405731"/>
                </a:solidFill>
                <a:latin typeface="Calibri"/>
              </a:rPr>
              <a:t>Qué dice la literatura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36000" y="2880000"/>
            <a:ext cx="3311999" cy="1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A5A5A"/>
                </a:solidFill>
                <a:latin typeface="Calibri"/>
              </a:rPr>
              <a:t>En fabricantes de maquinaria y equipos llega tarde del 13 % al 14 % de los pedidos (Brintrup y otros, 2020; Steinberg y otros, 2023): aquí es más del doble.</a:t>
            </a:r>
          </a:p>
          <a:p>
            <a:pPr algn="l">
              <a:spcBef>
                <a:spcPts val="600"/>
              </a:spcBef>
            </a:pPr>
            <a:r>
              <a:rPr sz="1050" b="0">
                <a:solidFill>
                  <a:srgbClr val="5A5A5A"/>
                </a:solidFill>
                <a:latin typeface="Calibri"/>
              </a:rPr>
              <a:t>Una revisión de 26 estudios encuentra que 16 parten las filas al azar; reevaluado sin fuga y en el tiempo, un AUC de 0,96 baja a 0,73 (Raval, 2026). Este trabajo evalúa siempre hacia adelante.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999" y="1224000"/>
            <a:ext cx="2448000" cy="3491999"/>
          </a:xfrm>
          <a:prstGeom prst="rect">
            <a:avLst/>
          </a:prstGeom>
          <a:solidFill>
            <a:srgbClr val="E8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25999" y="1332000"/>
            <a:ext cx="2124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405731"/>
                </a:solidFill>
                <a:latin typeface="Calibri"/>
              </a:rPr>
              <a:t>Objetivos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25999" y="1591200"/>
            <a:ext cx="2124000" cy="3077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Calibri"/>
              </a:rPr>
              <a:t>General: ordenar las posiciones por riesgo de retraso el día de la liberación y señalar cuáles seguir.</a:t>
            </a:r>
          </a:p>
          <a:p>
            <a:pPr algn="l"/>
            <a:r>
              <a:rPr sz="1050" b="0">
                <a:solidFill>
                  <a:srgbClr val="1A1A1A"/>
                </a:solidFill>
                <a:latin typeface="Calibri"/>
              </a:rPr>
              <a:t>Específico 1: comparar 7 modelos × 4 balanceos × 4 optimizadores con el mismo presupuesto.</a:t>
            </a:r>
          </a:p>
          <a:p>
            <a:pPr algn="l"/>
            <a:r>
              <a:rPr sz="1050" b="0">
                <a:solidFill>
                  <a:srgbClr val="1A1A1A"/>
                </a:solidFill>
                <a:latin typeface="Calibri"/>
              </a:rPr>
              <a:t>Específico 2: medir cuánto cuesta decidir con entidades nuevas (proveedor o material sin historia).</a:t>
            </a:r>
          </a:p>
          <a:p>
            <a:pPr algn="l"/>
            <a:r>
              <a:rPr sz="1050" b="0">
                <a:solidFill>
                  <a:srgbClr val="1A1A1A"/>
                </a:solidFill>
                <a:latin typeface="Calibri"/>
              </a:rPr>
              <a:t>Específico 3: dejar el modelo servido en un tablero con predicción en vivo.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8000" y="4842000"/>
            <a:ext cx="8243999" cy="14400"/>
          </a:xfrm>
          <a:prstGeom prst="rect">
            <a:avLst/>
          </a:prstGeom>
          <a:solidFill>
            <a:srgbClr val="DDD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8000" y="4896000"/>
            <a:ext cx="594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8C8C8C"/>
                </a:solidFill>
                <a:latin typeface="Calibri"/>
              </a:rPr>
              <a:t>Fuente: libro, introducción y literatura; capítulo 5 (modelo base): data/modelos/metricas.csv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8000" y="4896000"/>
            <a:ext cx="2304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8C8C8C"/>
                </a:solidFill>
                <a:latin typeface="Calibri"/>
              </a:rPr>
              <a:t>2 / 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76000"/>
          </a:xfrm>
          <a:prstGeom prst="rect">
            <a:avLst/>
          </a:prstGeom>
          <a:solidFill>
            <a:srgbClr val="405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76000"/>
            <a:ext cx="9144000" cy="36000"/>
          </a:xfrm>
          <a:prstGeom prst="rect">
            <a:avLst/>
          </a:prstGeom>
          <a:solidFill>
            <a:srgbClr val="B08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4000" y="72000"/>
            <a:ext cx="468000" cy="43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160" y="145440"/>
            <a:ext cx="355680" cy="26641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92000" y="125999"/>
            <a:ext cx="8172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Estimar la probabilidad de llegar tarde y decidir con un umbral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8000" y="756000"/>
            <a:ext cx="7308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B08A2D"/>
                </a:solidFill>
                <a:latin typeface="Calibri"/>
              </a:rPr>
              <a:t>CRITERIO 1  ·  FORMULACIÓN MATEMÁTICA</a:t>
            </a:r>
          </a:p>
        </p:txBody>
      </p:sp>
      <p:sp>
        <p:nvSpPr>
          <p:cNvPr id="8" name="Rectangle 7"/>
          <p:cNvSpPr/>
          <p:nvPr/>
        </p:nvSpPr>
        <p:spPr>
          <a:xfrm>
            <a:off x="468000" y="1044000"/>
            <a:ext cx="468000" cy="36000"/>
          </a:xfrm>
          <a:prstGeom prst="rect">
            <a:avLst/>
          </a:prstGeom>
          <a:solidFill>
            <a:srgbClr val="B08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8000" y="1152000"/>
            <a:ext cx="504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05731"/>
                </a:solidFill>
                <a:latin typeface="Calibri"/>
              </a:rPr>
              <a:t>Unidad: la posición i, el día t en que se libera su orden</a:t>
            </a:r>
          </a:p>
        </p:txBody>
      </p:sp>
      <p:pic>
        <p:nvPicPr>
          <p:cNvPr id="10" name="Picture 9" descr="f_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999" y="1440000"/>
            <a:ext cx="1763061" cy="270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8000" y="1782000"/>
            <a:ext cx="5040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A5A5A"/>
                </a:solidFill>
                <a:latin typeface="Calibri"/>
              </a:rPr>
              <a:t>x: 136 predictoras conocidas en t. y = 1 si la primera entrada de mercancía llega más de 1 día hábil después de la fecha prometida vigente al liberar.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000" y="2304000"/>
            <a:ext cx="504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05731"/>
                </a:solidFill>
                <a:latin typeface="Calibri"/>
              </a:rPr>
              <a:t>El modelo estadístico: y | x es Bernoulli con probabilidad p(x)</a:t>
            </a:r>
          </a:p>
        </p:txBody>
      </p:sp>
      <p:pic>
        <p:nvPicPr>
          <p:cNvPr id="13" name="Picture 12" descr="f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999" y="2574000"/>
            <a:ext cx="3042000" cy="270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68000" y="2916000"/>
            <a:ext cx="5040000" cy="503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A5A5A"/>
                </a:solidFill>
                <a:latin typeface="Calibri"/>
              </a:rPr>
              <a:t>Se estima p(x) minimizando la log-pérdida, que es menos la log-verosimilitud de Bernoulli; la decisión ŷ compara p̂ con un umbral τ.</a:t>
            </a:r>
          </a:p>
        </p:txBody>
      </p:sp>
      <p:pic>
        <p:nvPicPr>
          <p:cNvPr id="15" name="Picture 14" descr="f_ber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999" y="3456000"/>
            <a:ext cx="3668955" cy="270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68000" y="3851999"/>
            <a:ext cx="5040000" cy="86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A1A1A"/>
                </a:solidFill>
                <a:latin typeface="Calibri"/>
              </a:rPr>
              <a:t>El umbral τ se elige en la validación 2025, maximizando F1; la prueba 2026 se usa una sola vez y no elige nada.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1A1A1A"/>
                </a:solidFill>
                <a:latin typeface="Calibri"/>
              </a:rPr>
              <a:t>Métricas: AUC para ordenar por riesgo (no depende de τ) y F1 para la decisión.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60000" y="1188000"/>
            <a:ext cx="2951999" cy="1655999"/>
          </a:xfrm>
          <a:prstGeom prst="rect">
            <a:avLst/>
          </a:prstGeom>
          <a:solidFill>
            <a:srgbClr val="E8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22000" y="1295999"/>
            <a:ext cx="2627999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405731"/>
                </a:solidFill>
                <a:latin typeface="Calibri"/>
              </a:rPr>
              <a:t>Tarea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22000" y="1555200"/>
            <a:ext cx="2627999" cy="124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Calibri"/>
              </a:rPr>
              <a:t>Clasificación binaria supervisada: la etiqueta se observa después, cuando entra la mercancía, y el modelo aprende de las órdenes ya cerradas.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60000" y="2951999"/>
            <a:ext cx="2951999" cy="1764000"/>
          </a:xfrm>
          <a:prstGeom prst="rect">
            <a:avLst/>
          </a:prstGeom>
          <a:solidFill>
            <a:srgbClr val="F5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22000" y="3060000"/>
            <a:ext cx="2627999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405731"/>
                </a:solidFill>
                <a:latin typeface="Calibri"/>
              </a:rPr>
              <a:t>Por qué no regresión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22000" y="3319199"/>
            <a:ext cx="2627999" cy="1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Calibri"/>
              </a:rPr>
              <a:t>La decisión del comprador es binaria: seguir la orden o no. Los días de retraso tienen colas muy largas y se usan como contexto; el modelo original del Entregable 3 los aprovecha con cortes ordenados.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8000" y="4842000"/>
            <a:ext cx="8243999" cy="14400"/>
          </a:xfrm>
          <a:prstGeom prst="rect">
            <a:avLst/>
          </a:prstGeom>
          <a:solidFill>
            <a:srgbClr val="DDD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8000" y="4896000"/>
            <a:ext cx="594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8C8C8C"/>
                </a:solidFill>
                <a:latin typeface="Calibri"/>
              </a:rPr>
              <a:t>Fuente: libro, capítulos 1 y 2 (definición de la etiqueta y de la población)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8000" y="4896000"/>
            <a:ext cx="2304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8C8C8C"/>
                </a:solidFill>
                <a:latin typeface="Calibri"/>
              </a:rPr>
              <a:t>3 / 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76000"/>
          </a:xfrm>
          <a:prstGeom prst="rect">
            <a:avLst/>
          </a:prstGeom>
          <a:solidFill>
            <a:srgbClr val="405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76000"/>
            <a:ext cx="9144000" cy="36000"/>
          </a:xfrm>
          <a:prstGeom prst="rect">
            <a:avLst/>
          </a:prstGeom>
          <a:solidFill>
            <a:srgbClr val="B08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4000" y="72000"/>
            <a:ext cx="468000" cy="43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160" y="145440"/>
            <a:ext cx="355680" cy="26641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92000" y="125999"/>
            <a:ext cx="8172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Tablero: el contexto y la exploración, con filtros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8000" y="756000"/>
            <a:ext cx="7308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B08A2D"/>
                </a:solidFill>
                <a:latin typeface="Calibri"/>
              </a:rPr>
              <a:t>CRITERIO 2  ·  PANTALLA EN VIVO</a:t>
            </a:r>
          </a:p>
        </p:txBody>
      </p:sp>
      <p:sp>
        <p:nvSpPr>
          <p:cNvPr id="8" name="Rectangle 7"/>
          <p:cNvSpPr/>
          <p:nvPr/>
        </p:nvSpPr>
        <p:spPr>
          <a:xfrm>
            <a:off x="468000" y="1044000"/>
            <a:ext cx="468000" cy="36000"/>
          </a:xfrm>
          <a:prstGeom prst="rect">
            <a:avLst/>
          </a:prstGeom>
          <a:solidFill>
            <a:srgbClr val="B08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9" name="Picture 8" descr="tablero_e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000" y="1296000"/>
            <a:ext cx="5616000" cy="3510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8000" y="1116000"/>
            <a:ext cx="5616000" cy="1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8C8C8C"/>
                </a:solidFill>
                <a:latin typeface="Calibri"/>
              </a:rPr>
              <a:t>captura de respaldo, por si el tablero no carga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36000" y="1188000"/>
            <a:ext cx="2376000" cy="3528000"/>
          </a:xfrm>
          <a:prstGeom prst="rect">
            <a:avLst/>
          </a:prstGeom>
          <a:solidFill>
            <a:srgbClr val="405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8000" y="1295999"/>
            <a:ext cx="2051999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2E3BE"/>
                </a:solidFill>
                <a:latin typeface="Calibri"/>
              </a:rPr>
              <a:t>EN VIVO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8000" y="1548000"/>
            <a:ext cx="2051999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D9E2D2"/>
                </a:solidFill>
                <a:latin typeface="Calibri"/>
              </a:rPr>
              <a:t>otif-compras-ml.onrender.com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8000" y="1835999"/>
            <a:ext cx="2051999" cy="28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FFFFFF"/>
                </a:solidFill>
                <a:latin typeface="Calibri"/>
              </a:rPr>
              <a:t>1. Contexto: la fuente (SAP, 2021-2026), la población y la etiqueta.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FFFFFF"/>
                </a:solidFill>
                <a:latin typeface="Calibri"/>
              </a:rPr>
              <a:t>2. EDA: el objetivo por clase y la tasa por mes.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FFFFFF"/>
                </a:solidFill>
                <a:latin typeface="Calibri"/>
              </a:rPr>
              <a:t>3. Filtrar una línea de negocio: todo cambia con ella (de 25 % a 41 % de tarde).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FFFFFF"/>
                </a:solidFill>
                <a:latin typeface="Calibri"/>
              </a:rPr>
              <a:t>4. Bajar a distribuciones y atípicos.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8000" y="4842000"/>
            <a:ext cx="8243999" cy="14400"/>
          </a:xfrm>
          <a:prstGeom prst="rect">
            <a:avLst/>
          </a:prstGeom>
          <a:solidFill>
            <a:srgbClr val="DDD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8000" y="4896000"/>
            <a:ext cx="594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8C8C8C"/>
                </a:solidFill>
                <a:latin typeface="Calibri"/>
              </a:rPr>
              <a:t>Fuente: tablero, páginas Contexto y EDA (otif-compras-ml.onrender.com)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8000" y="4896000"/>
            <a:ext cx="2304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8C8C8C"/>
                </a:solidFill>
                <a:latin typeface="Calibri"/>
              </a:rPr>
              <a:t>4 / 21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76000"/>
          </a:xfrm>
          <a:prstGeom prst="rect">
            <a:avLst/>
          </a:prstGeom>
          <a:solidFill>
            <a:srgbClr val="405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76000"/>
            <a:ext cx="9144000" cy="36000"/>
          </a:xfrm>
          <a:prstGeom prst="rect">
            <a:avLst/>
          </a:prstGeom>
          <a:solidFill>
            <a:srgbClr val="B08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4000" y="72000"/>
            <a:ext cx="468000" cy="43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160" y="145440"/>
            <a:ext cx="355680" cy="26641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92000" y="125999"/>
            <a:ext cx="8172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De SAP a 406.126 posiciones con una etiqueta y 136 predictoras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8000" y="756000"/>
            <a:ext cx="7308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B08A2D"/>
                </a:solidFill>
                <a:latin typeface="Calibri"/>
              </a:rPr>
              <a:t>CRITERIO 2  ·  FUENTE, ESTRUCTURA Y PARTICIÓN</a:t>
            </a:r>
          </a:p>
        </p:txBody>
      </p:sp>
      <p:sp>
        <p:nvSpPr>
          <p:cNvPr id="8" name="Rectangle 7"/>
          <p:cNvSpPr/>
          <p:nvPr/>
        </p:nvSpPr>
        <p:spPr>
          <a:xfrm>
            <a:off x="468000" y="1044000"/>
            <a:ext cx="468000" cy="36000"/>
          </a:xfrm>
          <a:prstGeom prst="rect">
            <a:avLst/>
          </a:prstGeom>
          <a:solidFill>
            <a:srgbClr val="B08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8000" y="1188000"/>
            <a:ext cx="1512000" cy="684000"/>
          </a:xfrm>
          <a:prstGeom prst="rect">
            <a:avLst/>
          </a:prstGeom>
          <a:solidFill>
            <a:srgbClr val="E8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8000" y="1260000"/>
            <a:ext cx="1512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405731"/>
                </a:solidFill>
                <a:latin typeface="Calibri"/>
              </a:rPr>
              <a:t>SAP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000" y="1565999"/>
            <a:ext cx="1512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5A5A5A"/>
                </a:solidFill>
                <a:latin typeface="Calibri"/>
              </a:rPr>
              <a:t>compras 2021-2026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42000" y="1188000"/>
            <a:ext cx="1512000" cy="684000"/>
          </a:xfrm>
          <a:prstGeom prst="rect">
            <a:avLst/>
          </a:prstGeom>
          <a:solidFill>
            <a:srgbClr val="F5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42000" y="1260000"/>
            <a:ext cx="1512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405731"/>
                </a:solidFill>
                <a:latin typeface="Calibri"/>
              </a:rPr>
              <a:t>490.310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42000" y="1565999"/>
            <a:ext cx="1512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5A5A5A"/>
                </a:solidFill>
                <a:latin typeface="Calibri"/>
              </a:rPr>
              <a:t>posiciones con plazo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16000" y="1188000"/>
            <a:ext cx="1512000" cy="684000"/>
          </a:xfrm>
          <a:prstGeom prst="rect">
            <a:avLst/>
          </a:prstGeom>
          <a:solidFill>
            <a:srgbClr val="E8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16000" y="1260000"/>
            <a:ext cx="1512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405731"/>
                </a:solidFill>
                <a:latin typeface="Calibri"/>
              </a:rPr>
              <a:t>406.126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16000" y="1565999"/>
            <a:ext cx="1512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5A5A5A"/>
                </a:solidFill>
                <a:latin typeface="Calibri"/>
              </a:rPr>
              <a:t>población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90000" y="1188000"/>
            <a:ext cx="1512000" cy="684000"/>
          </a:xfrm>
          <a:prstGeom prst="rect">
            <a:avLst/>
          </a:prstGeom>
          <a:solidFill>
            <a:srgbClr val="F5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90000" y="1260000"/>
            <a:ext cx="1512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405731"/>
                </a:solidFill>
                <a:latin typeface="Calibri"/>
              </a:rPr>
              <a:t>etiqueta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90000" y="1565999"/>
            <a:ext cx="1512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5A5A5A"/>
                </a:solidFill>
                <a:latin typeface="Calibri"/>
              </a:rPr>
              <a:t>&gt; 1 día hábil tarde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64000" y="1188000"/>
            <a:ext cx="1512000" cy="684000"/>
          </a:xfrm>
          <a:prstGeom prst="rect">
            <a:avLst/>
          </a:prstGeom>
          <a:solidFill>
            <a:srgbClr val="E8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64000" y="1260000"/>
            <a:ext cx="1512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405731"/>
                </a:solidFill>
                <a:latin typeface="Calibri"/>
              </a:rPr>
              <a:t>136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64000" y="1565999"/>
            <a:ext cx="1512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5A5A5A"/>
                </a:solidFill>
                <a:latin typeface="Calibri"/>
              </a:rPr>
              <a:t>predictoras al liberar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468000" y="2088000"/>
          <a:ext cx="4679998" cy="129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150"/>
                <a:gridCol w="1159646"/>
                <a:gridCol w="993982"/>
                <a:gridCol w="911150"/>
                <a:gridCol w="704070"/>
              </a:tblGrid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partición</a:t>
                      </a:r>
                    </a:p>
                  </a:txBody>
                  <a:tcPr marL="57600" marR="57600" marT="14400" marB="14400" anchor="ctr">
                    <a:solidFill>
                      <a:srgbClr val="4057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uso</a:t>
                      </a:r>
                    </a:p>
                  </a:txBody>
                  <a:tcPr marL="57600" marR="57600" marT="14400" marB="14400" anchor="ctr">
                    <a:solidFill>
                      <a:srgbClr val="4057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posiciones</a:t>
                      </a:r>
                    </a:p>
                  </a:txBody>
                  <a:tcPr marL="57600" marR="57600" marT="14400" marB="14400" anchor="ctr">
                    <a:solidFill>
                      <a:srgbClr val="4057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órdenes</a:t>
                      </a:r>
                    </a:p>
                  </a:txBody>
                  <a:tcPr marL="57600" marR="57600" marT="14400" marB="14400" anchor="ctr">
                    <a:solidFill>
                      <a:srgbClr val="4057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tarde</a:t>
                      </a:r>
                    </a:p>
                  </a:txBody>
                  <a:tcPr marL="57600" marR="57600" marT="14400" marB="14400" anchor="ctr">
                    <a:solidFill>
                      <a:srgbClr val="405731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Calibri"/>
                        </a:rPr>
                        <a:t>2021-2024</a:t>
                      </a:r>
                    </a:p>
                  </a:txBody>
                  <a:tcPr marL="57600" marR="576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entrenar</a:t>
                      </a:r>
                    </a:p>
                  </a:txBody>
                  <a:tcPr marL="57600" marR="576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271.391</a:t>
                      </a:r>
                    </a:p>
                  </a:txBody>
                  <a:tcPr marL="57600" marR="576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70.233</a:t>
                      </a:r>
                    </a:p>
                  </a:txBody>
                  <a:tcPr marL="57600" marR="576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34,0 %</a:t>
                      </a:r>
                    </a:p>
                  </a:txBody>
                  <a:tcPr marL="57600" marR="57600" marT="14400" marB="144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Calibri"/>
                        </a:rPr>
                        <a:t>2025</a:t>
                      </a:r>
                    </a:p>
                  </a:txBody>
                  <a:tcPr marL="57600" marR="57600" marT="14400" marB="14400" anchor="ctr">
                    <a:solidFill>
                      <a:srgbClr val="EE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elegir umbral</a:t>
                      </a:r>
                    </a:p>
                  </a:txBody>
                  <a:tcPr marL="57600" marR="57600" marT="14400" marB="14400" anchor="ctr">
                    <a:solidFill>
                      <a:srgbClr val="EE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82.794</a:t>
                      </a:r>
                    </a:p>
                  </a:txBody>
                  <a:tcPr marL="57600" marR="57600" marT="14400" marB="14400" anchor="ctr">
                    <a:solidFill>
                      <a:srgbClr val="EE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21.797</a:t>
                      </a:r>
                    </a:p>
                  </a:txBody>
                  <a:tcPr marL="57600" marR="57600" marT="14400" marB="14400" anchor="ctr">
                    <a:solidFill>
                      <a:srgbClr val="EE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30,8 %</a:t>
                      </a:r>
                    </a:p>
                  </a:txBody>
                  <a:tcPr marL="57600" marR="57600" marT="14400" marB="14400" anchor="ctr">
                    <a:solidFill>
                      <a:srgbClr val="EEF2E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Calibri"/>
                        </a:rPr>
                        <a:t>2026</a:t>
                      </a:r>
                    </a:p>
                  </a:txBody>
                  <a:tcPr marL="57600" marR="576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probar una vez</a:t>
                      </a:r>
                    </a:p>
                  </a:txBody>
                  <a:tcPr marL="57600" marR="576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51.941</a:t>
                      </a:r>
                    </a:p>
                  </a:txBody>
                  <a:tcPr marL="57600" marR="576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12.584</a:t>
                      </a:r>
                    </a:p>
                  </a:txBody>
                  <a:tcPr marL="57600" marR="576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31,5 %</a:t>
                      </a:r>
                    </a:p>
                  </a:txBody>
                  <a:tcPr marL="57600" marR="57600" marT="14400" marB="14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Rectangle 24"/>
          <p:cNvSpPr/>
          <p:nvPr/>
        </p:nvSpPr>
        <p:spPr>
          <a:xfrm>
            <a:off x="5400000" y="2088000"/>
            <a:ext cx="3311999" cy="2592000"/>
          </a:xfrm>
          <a:prstGeom prst="rect">
            <a:avLst/>
          </a:prstGeom>
          <a:solidFill>
            <a:srgbClr val="E8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62000" y="2196000"/>
            <a:ext cx="2987999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405731"/>
                </a:solidFill>
                <a:latin typeface="Calibri"/>
              </a:rPr>
              <a:t>Las 136 predictoras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62000" y="2455200"/>
            <a:ext cx="2987999" cy="21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Calibri"/>
              </a:rPr>
              <a:t>83 numéricas: plazo, valor, liberación, historial del proveedor, stock, tasa de cambio.</a:t>
            </a:r>
          </a:p>
          <a:p>
            <a:pPr algn="l"/>
            <a:r>
              <a:rPr sz="1050" b="0">
                <a:solidFill>
                  <a:srgbClr val="1A1A1A"/>
                </a:solidFill>
                <a:latin typeface="Calibri"/>
              </a:rPr>
              <a:t>42 categóricas de pocos valores: línea, clase, moneda, tipo de material.</a:t>
            </a:r>
          </a:p>
          <a:p>
            <a:pPr algn="l"/>
            <a:r>
              <a:rPr sz="1050" b="0">
                <a:solidFill>
                  <a:srgbClr val="1A1A1A"/>
                </a:solidFill>
                <a:latin typeface="Calibri"/>
              </a:rPr>
              <a:t>11 entidades: proveedor, material, comprador, liberador, centro de costo y otras.</a:t>
            </a:r>
          </a:p>
          <a:p>
            <a:pPr algn="l"/>
            <a:r>
              <a:rPr sz="1050" b="0">
                <a:solidFill>
                  <a:srgbClr val="1A1A1A"/>
                </a:solidFill>
                <a:latin typeface="Calibri"/>
              </a:rPr>
              <a:t>Solo lo que se conoce el día de la liberación.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8000" y="3528000"/>
            <a:ext cx="4680000" cy="12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Las órdenes son la unidad independiente: 3,9 posiciones por orden. Ninguna orden cruza particiones y toda validación cruzada agrupa por orden.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5A5A5A"/>
                </a:solidFill>
                <a:latin typeface="Calibri"/>
              </a:rPr>
              <a:t>La partición es por la fecha de la orden, no al azar (diapositiva 8).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8000" y="4842000"/>
            <a:ext cx="8243999" cy="14400"/>
          </a:xfrm>
          <a:prstGeom prst="rect">
            <a:avLst/>
          </a:prstGeom>
          <a:solidFill>
            <a:srgbClr val="DDD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8000" y="4896000"/>
            <a:ext cx="594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8C8C8C"/>
                </a:solidFill>
                <a:latin typeface="Calibri"/>
              </a:rPr>
              <a:t>Fuente: libro, capítulo 2 (datos); diccionario de variables en data/diccionario.csv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8000" y="4896000"/>
            <a:ext cx="2304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8C8C8C"/>
                </a:solidFill>
                <a:latin typeface="Calibri"/>
              </a:rPr>
              <a:t>5 / 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76000"/>
          </a:xfrm>
          <a:prstGeom prst="rect">
            <a:avLst/>
          </a:prstGeom>
          <a:solidFill>
            <a:srgbClr val="405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76000"/>
            <a:ext cx="9144000" cy="36000"/>
          </a:xfrm>
          <a:prstGeom prst="rect">
            <a:avLst/>
          </a:prstGeom>
          <a:solidFill>
            <a:srgbClr val="B08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4000" y="72000"/>
            <a:ext cx="468000" cy="43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160" y="145440"/>
            <a:ext cx="355680" cy="26641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92000" y="125999"/>
            <a:ext cx="8172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Colas largas, vacíos con causa y atípicos que llegan más tarde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8000" y="756000"/>
            <a:ext cx="7308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B08A2D"/>
                </a:solidFill>
                <a:latin typeface="Calibri"/>
              </a:rPr>
              <a:t>CRITERIO 2  ·  DESCRIPTIVA, FALTANTES Y ATÍPICOS</a:t>
            </a:r>
          </a:p>
        </p:txBody>
      </p:sp>
      <p:sp>
        <p:nvSpPr>
          <p:cNvPr id="8" name="Rectangle 7"/>
          <p:cNvSpPr/>
          <p:nvPr/>
        </p:nvSpPr>
        <p:spPr>
          <a:xfrm>
            <a:off x="468000" y="1044000"/>
            <a:ext cx="468000" cy="36000"/>
          </a:xfrm>
          <a:prstGeom prst="rect">
            <a:avLst/>
          </a:prstGeom>
          <a:solidFill>
            <a:srgbClr val="B08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68000" y="1188000"/>
          <a:ext cx="4607997" cy="16559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8745"/>
                <a:gridCol w="781016"/>
                <a:gridCol w="937220"/>
                <a:gridCol w="781016"/>
              </a:tblGrid>
              <a:tr h="236571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variable</a:t>
                      </a:r>
                    </a:p>
                  </a:txBody>
                  <a:tcPr marL="57600" marR="57600" marT="14400" marB="14400" anchor="ctr">
                    <a:solidFill>
                      <a:srgbClr val="4057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mediana</a:t>
                      </a:r>
                    </a:p>
                  </a:txBody>
                  <a:tcPr marL="57600" marR="57600" marT="14400" marB="14400" anchor="ctr">
                    <a:solidFill>
                      <a:srgbClr val="4057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p99</a:t>
                      </a:r>
                    </a:p>
                  </a:txBody>
                  <a:tcPr marL="57600" marR="57600" marT="14400" marB="14400" anchor="ctr">
                    <a:solidFill>
                      <a:srgbClr val="4057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asimetría</a:t>
                      </a:r>
                    </a:p>
                  </a:txBody>
                  <a:tcPr marL="57600" marR="57600" marT="14400" marB="14400" anchor="ctr">
                    <a:solidFill>
                      <a:srgbClr val="405731"/>
                    </a:solidFill>
                  </a:tcPr>
                </a:tc>
              </a:tr>
              <a:tr h="236571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Calibri"/>
                        </a:rPr>
                        <a:t>Valor para la liberación</a:t>
                      </a:r>
                    </a:p>
                  </a:txBody>
                  <a:tcPr marL="57600" marR="576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24.807,3</a:t>
                      </a:r>
                    </a:p>
                  </a:txBody>
                  <a:tcPr marL="57600" marR="576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6.967.970</a:t>
                      </a:r>
                    </a:p>
                  </a:txBody>
                  <a:tcPr marL="57600" marR="576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294,2</a:t>
                      </a:r>
                    </a:p>
                  </a:txBody>
                  <a:tcPr marL="57600" marR="57600" marT="14400" marB="14400" anchor="ctr">
                    <a:solidFill>
                      <a:srgbClr val="FFFFFF"/>
                    </a:solidFill>
                  </a:tcPr>
                </a:tc>
              </a:tr>
              <a:tr h="236571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Calibri"/>
                        </a:rPr>
                        <a:t>Precio de la solicitud</a:t>
                      </a:r>
                    </a:p>
                  </a:txBody>
                  <a:tcPr marL="57600" marR="57600" marT="14400" marB="14400" anchor="ctr">
                    <a:solidFill>
                      <a:srgbClr val="EE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499,0</a:t>
                      </a:r>
                    </a:p>
                  </a:txBody>
                  <a:tcPr marL="57600" marR="57600" marT="14400" marB="14400" anchor="ctr">
                    <a:solidFill>
                      <a:srgbClr val="EE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364.340</a:t>
                      </a:r>
                    </a:p>
                  </a:txBody>
                  <a:tcPr marL="57600" marR="57600" marT="14400" marB="14400" anchor="ctr">
                    <a:solidFill>
                      <a:srgbClr val="EE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247,5</a:t>
                      </a:r>
                    </a:p>
                  </a:txBody>
                  <a:tcPr marL="57600" marR="57600" marT="14400" marB="14400" anchor="ctr">
                    <a:solidFill>
                      <a:srgbClr val="EEF2EA"/>
                    </a:solidFill>
                  </a:tcPr>
                </a:tc>
              </a:tr>
              <a:tr h="236571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Calibri"/>
                        </a:rPr>
                        <a:t>Razón cantidad orden/solicitud</a:t>
                      </a:r>
                    </a:p>
                  </a:txBody>
                  <a:tcPr marL="57600" marR="576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1,0</a:t>
                      </a:r>
                    </a:p>
                  </a:txBody>
                  <a:tcPr marL="57600" marR="576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7600" marR="576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238,5</a:t>
                      </a:r>
                    </a:p>
                  </a:txBody>
                  <a:tcPr marL="57600" marR="57600" marT="14400" marB="14400" anchor="ctr">
                    <a:solidFill>
                      <a:srgbClr val="FFFFFF"/>
                    </a:solidFill>
                  </a:tcPr>
                </a:tc>
              </a:tr>
              <a:tr h="236571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Calibri"/>
                        </a:rPr>
                        <a:t>Razón al último precio del material</a:t>
                      </a:r>
                    </a:p>
                  </a:txBody>
                  <a:tcPr marL="57600" marR="57600" marT="14400" marB="14400" anchor="ctr">
                    <a:solidFill>
                      <a:srgbClr val="EE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1,0</a:t>
                      </a:r>
                    </a:p>
                  </a:txBody>
                  <a:tcPr marL="57600" marR="57600" marT="14400" marB="14400" anchor="ctr">
                    <a:solidFill>
                      <a:srgbClr val="EE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7600" marR="57600" marT="14400" marB="14400" anchor="ctr">
                    <a:solidFill>
                      <a:srgbClr val="EE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213,5</a:t>
                      </a:r>
                    </a:p>
                  </a:txBody>
                  <a:tcPr marL="57600" marR="57600" marT="14400" marB="14400" anchor="ctr">
                    <a:solidFill>
                      <a:srgbClr val="EEF2EA"/>
                    </a:solidFill>
                  </a:tcPr>
                </a:tc>
              </a:tr>
              <a:tr h="236571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Calibri"/>
                        </a:rPr>
                        <a:t>Razón precio orden/solicitud</a:t>
                      </a:r>
                    </a:p>
                  </a:txBody>
                  <a:tcPr marL="57600" marR="576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1,0</a:t>
                      </a:r>
                    </a:p>
                  </a:txBody>
                  <a:tcPr marL="57600" marR="576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78.327</a:t>
                      </a:r>
                    </a:p>
                  </a:txBody>
                  <a:tcPr marL="57600" marR="576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190,0</a:t>
                      </a:r>
                    </a:p>
                  </a:txBody>
                  <a:tcPr marL="57600" marR="57600" marT="14400" marB="14400" anchor="ctr">
                    <a:solidFill>
                      <a:srgbClr val="FFFFFF"/>
                    </a:solidFill>
                  </a:tcPr>
                </a:tc>
              </a:tr>
              <a:tr h="236571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Calibri"/>
                        </a:rPr>
                        <a:t>Plazo original al crear</a:t>
                      </a:r>
                    </a:p>
                  </a:txBody>
                  <a:tcPr marL="57600" marR="57600" marT="14400" marB="14400" anchor="ctr">
                    <a:solidFill>
                      <a:srgbClr val="EE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20,0</a:t>
                      </a:r>
                    </a:p>
                  </a:txBody>
                  <a:tcPr marL="57600" marR="57600" marT="14400" marB="14400" anchor="ctr">
                    <a:solidFill>
                      <a:srgbClr val="EE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177</a:t>
                      </a:r>
                    </a:p>
                  </a:txBody>
                  <a:tcPr marL="57600" marR="57600" marT="14400" marB="14400" anchor="ctr">
                    <a:solidFill>
                      <a:srgbClr val="EE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148,7</a:t>
                      </a:r>
                    </a:p>
                  </a:txBody>
                  <a:tcPr marL="57600" marR="57600" marT="14400" marB="14400" anchor="ctr">
                    <a:solidFill>
                      <a:srgbClr val="EEF2EA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68000" y="2951999"/>
            <a:ext cx="4608000" cy="57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A5A5A"/>
                </a:solidFill>
                <a:latin typeface="Calibri"/>
              </a:rPr>
              <a:t>Por eso signo(x)·log(1 + |x|) antes de los modelos lineales: comprime las colas sin cambiar el orden. A los árboles no les cambia nada, porque solo usan el orden.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8000" y="3600000"/>
            <a:ext cx="4608000" cy="1116000"/>
          </a:xfrm>
          <a:prstGeom prst="rect">
            <a:avLst/>
          </a:prstGeom>
          <a:solidFill>
            <a:srgbClr val="F5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000" y="3708000"/>
            <a:ext cx="4284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05731"/>
                </a:solidFill>
                <a:latin typeface="Calibri"/>
              </a:rPr>
              <a:t>Atípicos multivariados (Isolation Forest)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000" y="3967200"/>
            <a:ext cx="4284000" cy="70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Calibri"/>
              </a:rPr>
              <a:t>40,4 % de tarde en las atípicas contra 33,7 % en el resto: son señal, no ruido, y no se borran.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328000" y="1188000"/>
          <a:ext cx="3383999" cy="16559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8341"/>
                <a:gridCol w="742829"/>
                <a:gridCol w="742829"/>
              </a:tblGrid>
              <a:tr h="236571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variable</a:t>
                      </a:r>
                    </a:p>
                  </a:txBody>
                  <a:tcPr marL="57600" marR="57600" marT="14400" marB="14400" anchor="ctr">
                    <a:solidFill>
                      <a:srgbClr val="4057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vacíos</a:t>
                      </a:r>
                    </a:p>
                  </a:txBody>
                  <a:tcPr marL="57600" marR="57600" marT="14400" marB="14400" anchor="ctr">
                    <a:solidFill>
                      <a:srgbClr val="4057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Δ tasa (pp)</a:t>
                      </a:r>
                    </a:p>
                  </a:txBody>
                  <a:tcPr marL="57600" marR="57600" marT="14400" marB="14400" anchor="ctr">
                    <a:solidFill>
                      <a:srgbClr val="405731"/>
                    </a:solidFill>
                  </a:tcPr>
                </a:tc>
              </a:tr>
              <a:tr h="236571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Calibri"/>
                        </a:rPr>
                        <a:t>mc_aprov_especial</a:t>
                      </a:r>
                    </a:p>
                  </a:txBody>
                  <a:tcPr marL="57600" marR="576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93,6 %</a:t>
                      </a:r>
                    </a:p>
                  </a:txBody>
                  <a:tcPr marL="57600" marR="576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0,3</a:t>
                      </a:r>
                    </a:p>
                  </a:txBody>
                  <a:tcPr marL="57600" marR="57600" marT="14400" marB="14400" anchor="ctr">
                    <a:solidFill>
                      <a:srgbClr val="FFFFFF"/>
                    </a:solidFill>
                  </a:tcPr>
                </a:tc>
              </a:tr>
              <a:tr h="236571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Calibri"/>
                        </a:rPr>
                        <a:t>imp_categoria_orden</a:t>
                      </a:r>
                    </a:p>
                  </a:txBody>
                  <a:tcPr marL="57600" marR="57600" marT="14400" marB="14400" anchor="ctr">
                    <a:solidFill>
                      <a:srgbClr val="EE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88,8 %</a:t>
                      </a:r>
                    </a:p>
                  </a:txBody>
                  <a:tcPr marL="57600" marR="57600" marT="14400" marB="14400" anchor="ctr">
                    <a:solidFill>
                      <a:srgbClr val="EE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-0,3</a:t>
                      </a:r>
                    </a:p>
                  </a:txBody>
                  <a:tcPr marL="57600" marR="57600" marT="14400" marB="14400" anchor="ctr">
                    <a:solidFill>
                      <a:srgbClr val="EEF2EA"/>
                    </a:solidFill>
                  </a:tcPr>
                </a:tc>
              </a:tr>
              <a:tr h="236571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Calibri"/>
                        </a:rPr>
                        <a:t>razon_cantidad_stock</a:t>
                      </a:r>
                    </a:p>
                  </a:txBody>
                  <a:tcPr marL="57600" marR="576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76,3 %</a:t>
                      </a:r>
                    </a:p>
                  </a:txBody>
                  <a:tcPr marL="57600" marR="576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2,3</a:t>
                      </a:r>
                    </a:p>
                  </a:txBody>
                  <a:tcPr marL="57600" marR="57600" marT="14400" marB="14400" anchor="ctr">
                    <a:solidFill>
                      <a:srgbClr val="FFFFFF"/>
                    </a:solidFill>
                  </a:tcPr>
                </a:tc>
              </a:tr>
              <a:tr h="236571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Calibri"/>
                        </a:rPr>
                        <a:t>mat_razon_ultimo_precio</a:t>
                      </a:r>
                    </a:p>
                  </a:txBody>
                  <a:tcPr marL="57600" marR="57600" marT="14400" marB="14400" anchor="ctr">
                    <a:solidFill>
                      <a:srgbClr val="EE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51,9 %</a:t>
                      </a:r>
                    </a:p>
                  </a:txBody>
                  <a:tcPr marL="57600" marR="57600" marT="14400" marB="14400" anchor="ctr">
                    <a:solidFill>
                      <a:srgbClr val="EE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-0,8</a:t>
                      </a:r>
                    </a:p>
                  </a:txBody>
                  <a:tcPr marL="57600" marR="57600" marT="14400" marB="14400" anchor="ctr">
                    <a:solidFill>
                      <a:srgbClr val="EEF2EA"/>
                    </a:solidFill>
                  </a:tcPr>
                </a:tc>
              </a:tr>
              <a:tr h="236571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Calibri"/>
                        </a:rPr>
                        <a:t>imp_n</a:t>
                      </a:r>
                    </a:p>
                  </a:txBody>
                  <a:tcPr marL="57600" marR="576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50,3 %</a:t>
                      </a:r>
                    </a:p>
                  </a:txBody>
                  <a:tcPr marL="57600" marR="576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2,9</a:t>
                      </a:r>
                    </a:p>
                  </a:txBody>
                  <a:tcPr marL="57600" marR="57600" marT="14400" marB="14400" anchor="ctr">
                    <a:solidFill>
                      <a:srgbClr val="FFFFFF"/>
                    </a:solidFill>
                  </a:tcPr>
                </a:tc>
              </a:tr>
              <a:tr h="236571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Calibri"/>
                        </a:rPr>
                        <a:t>imp_a_activo</a:t>
                      </a:r>
                    </a:p>
                  </a:txBody>
                  <a:tcPr marL="57600" marR="57600" marT="14400" marB="14400" anchor="ctr">
                    <a:solidFill>
                      <a:srgbClr val="EE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50,3 %</a:t>
                      </a:r>
                    </a:p>
                  </a:txBody>
                  <a:tcPr marL="57600" marR="57600" marT="14400" marB="14400" anchor="ctr">
                    <a:solidFill>
                      <a:srgbClr val="EE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2,9</a:t>
                      </a:r>
                    </a:p>
                  </a:txBody>
                  <a:tcPr marL="57600" marR="57600" marT="14400" marB="14400" anchor="ctr">
                    <a:solidFill>
                      <a:srgbClr val="EEF2EA"/>
                    </a:solidFill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5328000" y="2951999"/>
            <a:ext cx="3384000" cy="1764000"/>
          </a:xfrm>
          <a:prstGeom prst="rect">
            <a:avLst/>
          </a:prstGeom>
          <a:solidFill>
            <a:srgbClr val="E8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90000" y="3060000"/>
            <a:ext cx="306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05731"/>
                </a:solidFill>
                <a:latin typeface="Calibri"/>
              </a:rPr>
              <a:t>Faltantes estructurales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90000" y="3319199"/>
            <a:ext cx="3060000" cy="1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7 variables con más de 50 % de vacíos, y no son azar: faltan porque la orden no tiene solicitud o no tiene imputación. Se marcan con indicadores tiene_* y se imputa la mediana; Δ tasa es la diferencia de retraso entre filas con y sin dato.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8000" y="4842000"/>
            <a:ext cx="8243999" cy="14400"/>
          </a:xfrm>
          <a:prstGeom prst="rect">
            <a:avLst/>
          </a:prstGeom>
          <a:solidFill>
            <a:srgbClr val="DDD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8000" y="4896000"/>
            <a:ext cx="594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8C8C8C"/>
                </a:solidFill>
                <a:latin typeface="Calibri"/>
              </a:rPr>
              <a:t>Fuente: libro, capítulo 3 (EDA): resultados/eda/univariado_numericas.csv, faltantes.csv, atipicos_if.csv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8000" y="4896000"/>
            <a:ext cx="2304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8C8C8C"/>
                </a:solidFill>
                <a:latin typeface="Calibri"/>
              </a:rPr>
              <a:t>6 / 21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76000"/>
          </a:xfrm>
          <a:prstGeom prst="rect">
            <a:avLst/>
          </a:prstGeom>
          <a:solidFill>
            <a:srgbClr val="405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76000"/>
            <a:ext cx="9144000" cy="36000"/>
          </a:xfrm>
          <a:prstGeom prst="rect">
            <a:avLst/>
          </a:prstGeom>
          <a:solidFill>
            <a:srgbClr val="B08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4000" y="72000"/>
            <a:ext cx="468000" cy="43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160" y="145440"/>
            <a:ext cx="355680" cy="26641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92000" y="125999"/>
            <a:ext cx="8172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Ninguna variable sola pasa de 0,75 de AUC, y ninguna es fuga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8000" y="756000"/>
            <a:ext cx="7308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B08A2D"/>
                </a:solidFill>
                <a:latin typeface="Calibri"/>
              </a:rPr>
              <a:t>CRITERIO 2  ·  RELACIONES Y FUGA</a:t>
            </a:r>
          </a:p>
        </p:txBody>
      </p:sp>
      <p:sp>
        <p:nvSpPr>
          <p:cNvPr id="8" name="Rectangle 7"/>
          <p:cNvSpPr/>
          <p:nvPr/>
        </p:nvSpPr>
        <p:spPr>
          <a:xfrm>
            <a:off x="468000" y="1044000"/>
            <a:ext cx="468000" cy="36000"/>
          </a:xfrm>
          <a:prstGeom prst="rect">
            <a:avLst/>
          </a:prstGeom>
          <a:solidFill>
            <a:srgbClr val="B08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9" name="Picture 8" descr="auc_univariad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00" y="1152000"/>
            <a:ext cx="4392000" cy="237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8000" y="4284000"/>
            <a:ext cx="4392000" cy="46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A5A5A"/>
                </a:solidFill>
                <a:latin typeface="Calibri"/>
              </a:rPr>
              <a:t>El plazo hábil al liberar separa más (0,732): es la causa más directa del retraso y se conoce al liberar.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0000" y="1188000"/>
            <a:ext cx="3671999" cy="1655999"/>
          </a:xfrm>
          <a:prstGeom prst="rect">
            <a:avLst/>
          </a:prstGeom>
          <a:solidFill>
            <a:srgbClr val="F5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02000" y="1295999"/>
            <a:ext cx="3347999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05731"/>
                </a:solidFill>
                <a:latin typeface="Calibri"/>
              </a:rPr>
              <a:t>Auditoría de fuga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02000" y="1555200"/>
            <a:ext cx="3347999" cy="124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Cada grupo de variables, revisado contra el día de la liberación.</a:t>
            </a:r>
          </a:p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Retiradas: los días de retraso, las fechas de entrada y de factura, los cambios de fecha posteriores y los maestros que el planificador ajusta después de ver retrasos.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40000" y="2951999"/>
            <a:ext cx="3671999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405731"/>
                </a:solidFill>
                <a:latin typeface="Calibri"/>
              </a:rPr>
              <a:t>Entidades: tasa encogida hacia su nivel superior</a:t>
            </a:r>
          </a:p>
        </p:txBody>
      </p:sp>
      <p:pic>
        <p:nvPicPr>
          <p:cNvPr id="15" name="Picture 14" descr="f_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6000" y="3204000"/>
            <a:ext cx="3528000" cy="43856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040000" y="3924000"/>
            <a:ext cx="3671999" cy="79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Calibri"/>
              </a:rPr>
              <a:t>Se calcula fuera de pliegue y agrupada por orden: una posición no ve su propio objetivo ni el de su orden. Un valor nuevo recibe la tasa de su padre (el proveedor, la de su región).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8000" y="4842000"/>
            <a:ext cx="8243999" cy="14400"/>
          </a:xfrm>
          <a:prstGeom prst="rect">
            <a:avLst/>
          </a:prstGeom>
          <a:solidFill>
            <a:srgbClr val="DDD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8000" y="4896000"/>
            <a:ext cx="594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8C8C8C"/>
                </a:solidFill>
                <a:latin typeface="Calibri"/>
              </a:rPr>
              <a:t>Fuente: libro, capítulos 3 y 4: resultados/eda/asociacion.csv; src/datos.py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8000" y="4896000"/>
            <a:ext cx="2304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8C8C8C"/>
                </a:solidFill>
                <a:latin typeface="Calibri"/>
              </a:rPr>
              <a:t>7 / 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76000"/>
          </a:xfrm>
          <a:prstGeom prst="rect">
            <a:avLst/>
          </a:prstGeom>
          <a:solidFill>
            <a:srgbClr val="405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76000"/>
            <a:ext cx="9144000" cy="36000"/>
          </a:xfrm>
          <a:prstGeom prst="rect">
            <a:avLst/>
          </a:prstGeom>
          <a:solidFill>
            <a:srgbClr val="B08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4000" y="72000"/>
            <a:ext cx="468000" cy="43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160" y="145440"/>
            <a:ext cx="355680" cy="26641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92000" y="125999"/>
            <a:ext cx="8172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El tiempo importa: partir al azar mediría con datos ya vistos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8000" y="756000"/>
            <a:ext cx="7308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B08A2D"/>
                </a:solidFill>
                <a:latin typeface="Calibri"/>
              </a:rPr>
              <a:t>CRITERIO 2  ·  DERIVA Y PARTICIÓN</a:t>
            </a:r>
          </a:p>
        </p:txBody>
      </p:sp>
      <p:sp>
        <p:nvSpPr>
          <p:cNvPr id="8" name="Rectangle 7"/>
          <p:cNvSpPr/>
          <p:nvPr/>
        </p:nvSpPr>
        <p:spPr>
          <a:xfrm>
            <a:off x="468000" y="1044000"/>
            <a:ext cx="468000" cy="36000"/>
          </a:xfrm>
          <a:prstGeom prst="rect">
            <a:avLst/>
          </a:prstGeom>
          <a:solidFill>
            <a:srgbClr val="B08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9" name="Picture 8" descr="ser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00" y="1152000"/>
            <a:ext cx="4176000" cy="193420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8000" y="3240000"/>
            <a:ext cx="4176000" cy="86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A5A5A"/>
                </a:solidFill>
                <a:latin typeface="Calibri"/>
              </a:rPr>
              <a:t>No es estacionaria: ADF no rechaza la raíz unitaria (p = 0,70) y KPSS rechaza la estacionariedad (p = 0,026). Proveedores nuevos: 6,6 % en 2025 y 11,1 % en 2026.</a:t>
            </a:r>
          </a:p>
        </p:txBody>
      </p:sp>
      <p:pic>
        <p:nvPicPr>
          <p:cNvPr id="11" name="Picture 10" descr="adversari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4000" y="1152000"/>
            <a:ext cx="3888000" cy="167041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824000" y="2951999"/>
            <a:ext cx="3888000" cy="176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1A1A1A"/>
                </a:solidFill>
                <a:latin typeface="Calibri"/>
              </a:rPr>
              <a:t>Validación adversaria: un XGBoost intenta adivinar de qué conjunto viene cada posición.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1A1A1A"/>
                </a:solidFill>
                <a:latin typeface="Calibri"/>
              </a:rPr>
              <a:t>Al azar no puede (0,504). Por fecha acierta siempre (1,000), y sigue en 0,999 sin las variables que fechan la fila: muchas derivas pequeñas (IVA, región del centro, mezcla de líneas) bastan para reconocer el año.</a:t>
            </a:r>
          </a:p>
          <a:p>
            <a:pPr algn="l">
              <a:spcAft>
                <a:spcPts val="500"/>
              </a:spcAft>
            </a:pPr>
            <a:r>
              <a:rPr sz="1050" b="1">
                <a:solidFill>
                  <a:srgbClr val="405731"/>
                </a:solidFill>
                <a:latin typeface="Calibri"/>
              </a:rPr>
              <a:t>Por eso: partición cronológica, validación por ventanas crecientes y reentrenar con 2021-2025 antes de la prueba.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8000" y="4842000"/>
            <a:ext cx="8243999" cy="14400"/>
          </a:xfrm>
          <a:prstGeom prst="rect">
            <a:avLst/>
          </a:prstGeom>
          <a:solidFill>
            <a:srgbClr val="DDD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8000" y="4896000"/>
            <a:ext cx="594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8C8C8C"/>
                </a:solidFill>
                <a:latin typeface="Calibri"/>
              </a:rPr>
              <a:t>Fuente: libro, capítulo 4 (tiempo y fuga): resultados/eda/ y resultados/similitud/auc.csv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8000" y="4896000"/>
            <a:ext cx="2304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8C8C8C"/>
                </a:solidFill>
                <a:latin typeface="Calibri"/>
              </a:rPr>
              <a:t>8 / 21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76000"/>
          </a:xfrm>
          <a:prstGeom prst="rect">
            <a:avLst/>
          </a:prstGeom>
          <a:solidFill>
            <a:srgbClr val="405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76000"/>
            <a:ext cx="9144000" cy="36000"/>
          </a:xfrm>
          <a:prstGeom prst="rect">
            <a:avLst/>
          </a:prstGeom>
          <a:solidFill>
            <a:srgbClr val="B08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4000" y="72000"/>
            <a:ext cx="468000" cy="43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160" y="145440"/>
            <a:ext cx="355680" cy="26641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92000" y="125999"/>
            <a:ext cx="8172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XGBoost: el log-odds como suma de árboles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8000" y="756000"/>
            <a:ext cx="7308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B08A2D"/>
                </a:solidFill>
                <a:latin typeface="Calibri"/>
              </a:rPr>
              <a:t>CRITERIO 3  ·  FORMULACIÓN DEL ALGORITMO</a:t>
            </a:r>
          </a:p>
        </p:txBody>
      </p:sp>
      <p:sp>
        <p:nvSpPr>
          <p:cNvPr id="8" name="Rectangle 7"/>
          <p:cNvSpPr/>
          <p:nvPr/>
        </p:nvSpPr>
        <p:spPr>
          <a:xfrm>
            <a:off x="468000" y="1044000"/>
            <a:ext cx="468000" cy="36000"/>
          </a:xfrm>
          <a:prstGeom prst="rect">
            <a:avLst/>
          </a:prstGeom>
          <a:solidFill>
            <a:srgbClr val="B08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8000" y="1152000"/>
            <a:ext cx="522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05731"/>
                </a:solidFill>
                <a:latin typeface="Calibri"/>
              </a:rPr>
              <a:t>El modelo</a:t>
            </a:r>
          </a:p>
        </p:txBody>
      </p:sp>
      <p:pic>
        <p:nvPicPr>
          <p:cNvPr id="10" name="Picture 9" descr="f_model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999" y="1404000"/>
            <a:ext cx="2767578" cy="41399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8000" y="1908000"/>
            <a:ext cx="5220000" cy="57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A5A5A"/>
                </a:solidFill>
                <a:latin typeface="Calibri"/>
              </a:rPr>
              <a:t>Cada árbol f_m reparte el espacio de las predictoras en T hojas y da a cada hoja un peso w_j. Los árboles se construyen en secuencia: el m corrige lo que los m − 1 anteriores todavía predicen mal.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000" y="2556000"/>
            <a:ext cx="522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05731"/>
                </a:solidFill>
                <a:latin typeface="Calibri"/>
              </a:rPr>
              <a:t>La pérdida: menos la log-verosimilitud de Bernoulli</a:t>
            </a:r>
          </a:p>
        </p:txBody>
      </p:sp>
      <p:pic>
        <p:nvPicPr>
          <p:cNvPr id="13" name="Picture 12" descr="f_perdi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999" y="2808000"/>
            <a:ext cx="3261418" cy="2232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68000" y="3131999"/>
            <a:ext cx="5220000" cy="503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A5A5A"/>
                </a:solidFill>
                <a:latin typeface="Calibri"/>
              </a:rPr>
              <a:t>Es convexa en F y penaliza sin límite una probabilidad segura y equivocada: por eso produce probabilidades, no solo un orden.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000" y="3708000"/>
            <a:ext cx="522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05731"/>
                </a:solidFill>
                <a:latin typeface="Calibri"/>
              </a:rPr>
              <a:t>El principio: descenso por gradiente en el espacio de funciones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000" y="3960000"/>
            <a:ext cx="5220000" cy="75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Calibri"/>
              </a:rPr>
              <a:t>En vez de mover parámetros, cada iteración agrega una función (un árbol) en la dirección que más baja la pérdida (Friedman, 2001). XGBoost usa además la curvatura: un paso de Newton (Chen y Guestrin, 2016).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76000" y="1188000"/>
            <a:ext cx="2736000" cy="1692000"/>
          </a:xfrm>
          <a:prstGeom prst="rect">
            <a:avLst/>
          </a:prstGeom>
          <a:solidFill>
            <a:srgbClr val="E8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38000" y="1295999"/>
            <a:ext cx="2411999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05731"/>
                </a:solidFill>
                <a:latin typeface="Calibri"/>
              </a:rPr>
              <a:t>Boosting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38000" y="1555200"/>
            <a:ext cx="2411999" cy="12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Calibri"/>
              </a:rPr>
              <a:t>Árboles en secuencia, cada uno sobre los errores del anterior: baja el sesgo. Pide regularización para no sobreajustar.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76000" y="2988000"/>
            <a:ext cx="2736000" cy="1728000"/>
          </a:xfrm>
          <a:prstGeom prst="rect">
            <a:avLst/>
          </a:prstGeom>
          <a:solidFill>
            <a:srgbClr val="F5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38000" y="3096000"/>
            <a:ext cx="2411999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05731"/>
                </a:solidFill>
                <a:latin typeface="Calibri"/>
              </a:rPr>
              <a:t>Bosque aleatorio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38000" y="3355200"/>
            <a:ext cx="2411999" cy="131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Calibri"/>
              </a:rPr>
              <a:t>Árboles independientes y promediados: baja la varianza. Fue el segundo de los 112; la diferencia está en corregir el error en vez de promediarlo.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8000" y="4842000"/>
            <a:ext cx="8243999" cy="14400"/>
          </a:xfrm>
          <a:prstGeom prst="rect">
            <a:avLst/>
          </a:prstGeom>
          <a:solidFill>
            <a:srgbClr val="DDD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8000" y="4896000"/>
            <a:ext cx="594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8C8C8C"/>
                </a:solidFill>
                <a:latin typeface="Calibri"/>
              </a:rPr>
              <a:t>Fuente: libro, capítulo 8 (fundamentos); Friedman (2001), Chen y Guestrin (2016)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8000" y="4896000"/>
            <a:ext cx="2304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8C8C8C"/>
                </a:solidFill>
                <a:latin typeface="Calibri"/>
              </a:rPr>
              <a:t>9 / 21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76000"/>
          </a:xfrm>
          <a:prstGeom prst="rect">
            <a:avLst/>
          </a:prstGeom>
          <a:solidFill>
            <a:srgbClr val="405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76000"/>
            <a:ext cx="9144000" cy="36000"/>
          </a:xfrm>
          <a:prstGeom prst="rect">
            <a:avLst/>
          </a:prstGeom>
          <a:solidFill>
            <a:srgbClr val="B08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4000" y="72000"/>
            <a:ext cx="468000" cy="43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160" y="145440"/>
            <a:ext cx="355680" cy="26641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92000" y="125999"/>
            <a:ext cx="8172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Cada árbol minimiza una aproximación de segundo orden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8000" y="756000"/>
            <a:ext cx="7308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B08A2D"/>
                </a:solidFill>
                <a:latin typeface="Calibri"/>
              </a:rPr>
              <a:t>CRITERIO 3  ·  PRINCIPIO DE OPTIMIZACIÓN</a:t>
            </a:r>
          </a:p>
        </p:txBody>
      </p:sp>
      <p:sp>
        <p:nvSpPr>
          <p:cNvPr id="8" name="Rectangle 7"/>
          <p:cNvSpPr/>
          <p:nvPr/>
        </p:nvSpPr>
        <p:spPr>
          <a:xfrm>
            <a:off x="468000" y="1044000"/>
            <a:ext cx="468000" cy="36000"/>
          </a:xfrm>
          <a:prstGeom prst="rect">
            <a:avLst/>
          </a:prstGeom>
          <a:solidFill>
            <a:srgbClr val="B08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8000" y="1152000"/>
            <a:ext cx="8243999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05731"/>
                </a:solidFill>
                <a:latin typeface="Calibri"/>
              </a:rPr>
              <a:t>El objetivo del árbol m: la pérdida más una penalización de su complejidad</a:t>
            </a:r>
          </a:p>
        </p:txBody>
      </p:sp>
      <p:pic>
        <p:nvPicPr>
          <p:cNvPr id="10" name="Picture 9" descr="f_obj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999" y="1422000"/>
            <a:ext cx="2852645" cy="41399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8000" y="1944000"/>
            <a:ext cx="8243999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05731"/>
                </a:solidFill>
                <a:latin typeface="Calibri"/>
              </a:rPr>
              <a:t>Taylor de segundo orden alrededor de la predicción actual F_{m−1}</a:t>
            </a:r>
          </a:p>
        </p:txBody>
      </p:sp>
      <p:pic>
        <p:nvPicPr>
          <p:cNvPr id="12" name="Picture 11" descr="f_tayl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999" y="2196000"/>
            <a:ext cx="2982163" cy="360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68000" y="2700000"/>
            <a:ext cx="8243999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05731"/>
                </a:solidFill>
                <a:latin typeface="Calibri"/>
              </a:rPr>
              <a:t>Gradiente y hessiano de la log-pérdida: la derivación</a:t>
            </a:r>
          </a:p>
        </p:txBody>
      </p:sp>
      <p:pic>
        <p:nvPicPr>
          <p:cNvPr id="14" name="Picture 13" descr="f_deriv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999" y="2970000"/>
            <a:ext cx="7740000" cy="445903"/>
          </a:xfrm>
          <a:prstGeom prst="rect">
            <a:avLst/>
          </a:prstGeom>
        </p:spPr>
      </p:pic>
      <p:pic>
        <p:nvPicPr>
          <p:cNvPr id="15" name="Picture 14" descr="f_g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999" y="3510000"/>
            <a:ext cx="2322438" cy="22320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468000" y="3888000"/>
            <a:ext cx="4031999" cy="827999"/>
          </a:xfrm>
          <a:prstGeom prst="rect">
            <a:avLst/>
          </a:prstGeom>
          <a:solidFill>
            <a:srgbClr val="E8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000" y="3996000"/>
            <a:ext cx="3707999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05731"/>
                </a:solidFill>
                <a:latin typeface="Calibri"/>
              </a:rPr>
              <a:t>g_i, el gradiente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000" y="4255200"/>
            <a:ext cx="3707999" cy="413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El residuo con signo: positivo si el modelo sobreestima el riesgo de una posición que llegó a tiempo.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80000" y="3888000"/>
            <a:ext cx="4031999" cy="827999"/>
          </a:xfrm>
          <a:prstGeom prst="rect">
            <a:avLst/>
          </a:prstGeom>
          <a:solidFill>
            <a:srgbClr val="F5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2000" y="3996000"/>
            <a:ext cx="3707999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05731"/>
                </a:solidFill>
                <a:latin typeface="Calibri"/>
              </a:rPr>
              <a:t>h_i, el hessiano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2000" y="4255200"/>
            <a:ext cx="3707999" cy="413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La varianza de Bernoulli: grande donde el modelo duda (p̂ cerca de 0,5) y pequeño donde ya está seguro.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8000" y="4842000"/>
            <a:ext cx="8243999" cy="14400"/>
          </a:xfrm>
          <a:prstGeom prst="rect">
            <a:avLst/>
          </a:prstGeom>
          <a:solidFill>
            <a:srgbClr val="DDD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8000" y="4896000"/>
            <a:ext cx="594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8C8C8C"/>
                </a:solidFill>
                <a:latin typeface="Calibri"/>
              </a:rPr>
              <a:t>Fuente: libro, capítulo 8; Chen y Guestrin (2016)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8000" y="4896000"/>
            <a:ext cx="2304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8C8C8C"/>
                </a:solidFill>
                <a:latin typeface="Calibri"/>
              </a:rPr>
              <a:t>10 / 21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76000"/>
          </a:xfrm>
          <a:prstGeom prst="rect">
            <a:avLst/>
          </a:prstGeom>
          <a:solidFill>
            <a:srgbClr val="405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76000"/>
            <a:ext cx="9144000" cy="36000"/>
          </a:xfrm>
          <a:prstGeom prst="rect">
            <a:avLst/>
          </a:prstGeom>
          <a:solidFill>
            <a:srgbClr val="B08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4000" y="72000"/>
            <a:ext cx="468000" cy="43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160" y="145440"/>
            <a:ext cx="355680" cy="26641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92000" y="125999"/>
            <a:ext cx="8172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Peso de hoja y ganancia de corte en forma cerrada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8000" y="756000"/>
            <a:ext cx="7308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B08A2D"/>
                </a:solidFill>
                <a:latin typeface="Calibri"/>
              </a:rPr>
              <a:t>CRITERIO 3  ·  CÓMO SE CONSTRUYE CADA ÁRBOL</a:t>
            </a:r>
          </a:p>
        </p:txBody>
      </p:sp>
      <p:sp>
        <p:nvSpPr>
          <p:cNvPr id="8" name="Rectangle 7"/>
          <p:cNvSpPr/>
          <p:nvPr/>
        </p:nvSpPr>
        <p:spPr>
          <a:xfrm>
            <a:off x="468000" y="1044000"/>
            <a:ext cx="468000" cy="36000"/>
          </a:xfrm>
          <a:prstGeom prst="rect">
            <a:avLst/>
          </a:prstGeom>
          <a:solidFill>
            <a:srgbClr val="B08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8000" y="1152000"/>
            <a:ext cx="396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405731"/>
                </a:solidFill>
                <a:latin typeface="Calibri"/>
              </a:rPr>
              <a:t>Peso óptimo de la hoja j</a:t>
            </a:r>
          </a:p>
        </p:txBody>
      </p:sp>
      <p:pic>
        <p:nvPicPr>
          <p:cNvPr id="10" name="Picture 9" descr="f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999" y="1422000"/>
            <a:ext cx="1377890" cy="486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8000" y="2015999"/>
            <a:ext cx="3960000" cy="64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A5A5A"/>
                </a:solidFill>
                <a:latin typeface="Calibri"/>
              </a:rPr>
              <a:t>Con G_j y H_j la suma de g y h en la hoja, la aproximación es una parábola en w_j: su mínimo es un paso de Newton, el gradiente sobre la curvatura, encogido por λ.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000" y="2736000"/>
            <a:ext cx="8243999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405731"/>
                </a:solidFill>
                <a:latin typeface="Calibri"/>
              </a:rPr>
              <a:t>Ganancia de partir una hoja en izquierda (L) y derecha (R): se corta solo si es positiva</a:t>
            </a:r>
          </a:p>
        </p:txBody>
      </p:sp>
      <p:pic>
        <p:nvPicPr>
          <p:cNvPr id="13" name="Picture 12" descr="f_gananci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999" y="3006000"/>
            <a:ext cx="4671000" cy="486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68000" y="3636000"/>
            <a:ext cx="468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405731"/>
                </a:solidFill>
                <a:latin typeface="Calibri"/>
              </a:rPr>
              <a:t>Paso corto: cada árbol entra encogido por la tasa de aprendizaje</a:t>
            </a:r>
          </a:p>
        </p:txBody>
      </p:sp>
      <p:pic>
        <p:nvPicPr>
          <p:cNvPr id="15" name="Picture 14" descr="f_et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999" y="3888000"/>
            <a:ext cx="1506079" cy="22320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4752000" y="1188000"/>
            <a:ext cx="3960000" cy="1440000"/>
          </a:xfrm>
          <a:prstGeom prst="rect">
            <a:avLst/>
          </a:prstGeom>
          <a:solidFill>
            <a:srgbClr val="F5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13999" y="1295999"/>
            <a:ext cx="3636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405731"/>
                </a:solidFill>
                <a:latin typeface="Calibri"/>
              </a:rPr>
              <a:t>Búsqueda por histograma (hist)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3999" y="1555200"/>
            <a:ext cx="3636000" cy="102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Calibri"/>
              </a:rPr>
              <a:t>Cada predictora se discretiza en a lo sumo 256 tramos y la ganancia se evalúa solo en sus bordes: buscar el mejor corte es recorrer un histograma, no ordenar las filas.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52000" y="3671999"/>
            <a:ext cx="3960000" cy="1007999"/>
          </a:xfrm>
          <a:prstGeom prst="rect">
            <a:avLst/>
          </a:prstGeom>
          <a:solidFill>
            <a:srgbClr val="EE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32000" y="3736799"/>
            <a:ext cx="360000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405731"/>
                </a:solidFill>
                <a:latin typeface="Calibri"/>
              </a:rPr>
              <a:t>Contraste: la logística  </a:t>
            </a:r>
            <a:r>
              <a:rPr sz="1050" b="0">
                <a:solidFill>
                  <a:srgbClr val="1A1A1A"/>
                </a:solidFill>
                <a:latin typeface="Calibri"/>
              </a:rPr>
              <a:t>minimiza la misma log-pérdida con una sola recta, convexa y con un único óptimo. No ve interacciones ni umbrales sin construirlos; XGBoost los encuentra con los cortes.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8000" y="4842000"/>
            <a:ext cx="8243999" cy="14400"/>
          </a:xfrm>
          <a:prstGeom prst="rect">
            <a:avLst/>
          </a:prstGeom>
          <a:solidFill>
            <a:srgbClr val="DDD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8000" y="4896000"/>
            <a:ext cx="594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8C8C8C"/>
                </a:solidFill>
                <a:latin typeface="Calibri"/>
              </a:rPr>
              <a:t>Fuente: libro, capítulo 8; Chen y Guestrin (2016)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8000" y="4896000"/>
            <a:ext cx="2304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8C8C8C"/>
                </a:solidFill>
                <a:latin typeface="Calibri"/>
              </a:rPr>
              <a:t>11 / 21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76000"/>
          </a:xfrm>
          <a:prstGeom prst="rect">
            <a:avLst/>
          </a:prstGeom>
          <a:solidFill>
            <a:srgbClr val="405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76000"/>
            <a:ext cx="9144000" cy="36000"/>
          </a:xfrm>
          <a:prstGeom prst="rect">
            <a:avLst/>
          </a:prstGeom>
          <a:solidFill>
            <a:srgbClr val="B08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4000" y="72000"/>
            <a:ext cx="468000" cy="43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160" y="145440"/>
            <a:ext cx="355680" cy="26641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92000" y="125999"/>
            <a:ext cx="8172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El ajuste crece casi lineal en n (exponente 0,91)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8000" y="756000"/>
            <a:ext cx="7308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B08A2D"/>
                </a:solidFill>
                <a:latin typeface="Calibri"/>
              </a:rPr>
              <a:t>CRITERIO 3  ·  SUPUESTOS, REGULARIZACIÓN, COMPLEJIDAD Y GENERALIZACIÓN</a:t>
            </a:r>
          </a:p>
        </p:txBody>
      </p:sp>
      <p:sp>
        <p:nvSpPr>
          <p:cNvPr id="8" name="Rectangle 7"/>
          <p:cNvSpPr/>
          <p:nvPr/>
        </p:nvSpPr>
        <p:spPr>
          <a:xfrm>
            <a:off x="468000" y="1044000"/>
            <a:ext cx="468000" cy="36000"/>
          </a:xfrm>
          <a:prstGeom prst="rect">
            <a:avLst/>
          </a:prstGeom>
          <a:solidFill>
            <a:srgbClr val="B08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68000" y="1188000"/>
          <a:ext cx="4391999" cy="201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4000"/>
                <a:gridCol w="1033411"/>
                <a:gridCol w="1894588"/>
              </a:tblGrid>
              <a:tr h="2880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hiperparámetro</a:t>
                      </a:r>
                    </a:p>
                  </a:txBody>
                  <a:tcPr marL="57600" marR="57600" marT="14400" marB="14400" anchor="ctr">
                    <a:solidFill>
                      <a:srgbClr val="4057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en la fórmula</a:t>
                      </a:r>
                    </a:p>
                  </a:txBody>
                  <a:tcPr marL="57600" marR="57600" marT="14400" marB="14400" anchor="ctr">
                    <a:solidFill>
                      <a:srgbClr val="4057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qué controla</a:t>
                      </a:r>
                    </a:p>
                  </a:txBody>
                  <a:tcPr marL="57600" marR="57600" marT="14400" marB="14400" anchor="ctr">
                    <a:solidFill>
                      <a:srgbClr val="405731"/>
                    </a:solidFill>
                  </a:tcPr>
                </a:tc>
              </a:tr>
              <a:tr h="2880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Calibri"/>
                        </a:rPr>
                        <a:t>n_estimators</a:t>
                      </a:r>
                    </a:p>
                  </a:txBody>
                  <a:tcPr marL="57600" marR="576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M</a:t>
                      </a:r>
                    </a:p>
                  </a:txBody>
                  <a:tcPr marL="57600" marR="576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capacidad y costo</a:t>
                      </a:r>
                    </a:p>
                  </a:txBody>
                  <a:tcPr marL="57600" marR="57600" marT="14400" marB="14400" anchor="ctr"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Calibri"/>
                        </a:rPr>
                        <a:t>learning_rate</a:t>
                      </a:r>
                    </a:p>
                  </a:txBody>
                  <a:tcPr marL="57600" marR="57600" marT="14400" marB="14400" anchor="ctr">
                    <a:solidFill>
                      <a:srgbClr val="EE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η</a:t>
                      </a:r>
                    </a:p>
                  </a:txBody>
                  <a:tcPr marL="57600" marR="57600" marT="14400" marB="14400" anchor="ctr">
                    <a:solidFill>
                      <a:srgbClr val="EE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pasos cortos, mejor generalización</a:t>
                      </a:r>
                    </a:p>
                  </a:txBody>
                  <a:tcPr marL="57600" marR="57600" marT="14400" marB="14400" anchor="ctr">
                    <a:solidFill>
                      <a:srgbClr val="EEF2EA"/>
                    </a:solidFill>
                  </a:tcPr>
                </a:tc>
              </a:tr>
              <a:tr h="2880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Calibri"/>
                        </a:rPr>
                        <a:t>max_depth</a:t>
                      </a:r>
                    </a:p>
                  </a:txBody>
                  <a:tcPr marL="57600" marR="576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T ≤ 2^D</a:t>
                      </a:r>
                    </a:p>
                  </a:txBody>
                  <a:tcPr marL="57600" marR="576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interacciones de hasta D variables</a:t>
                      </a:r>
                    </a:p>
                  </a:txBody>
                  <a:tcPr marL="57600" marR="57600" marT="14400" marB="14400" anchor="ctr"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Calibri"/>
                        </a:rPr>
                        <a:t>min_child_weight</a:t>
                      </a:r>
                    </a:p>
                  </a:txBody>
                  <a:tcPr marL="57600" marR="57600" marT="14400" marB="14400" anchor="ctr">
                    <a:solidFill>
                      <a:srgbClr val="EE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H_j ≥ c</a:t>
                      </a:r>
                    </a:p>
                  </a:txBody>
                  <a:tcPr marL="57600" marR="57600" marT="14400" marB="14400" anchor="ctr">
                    <a:solidFill>
                      <a:srgbClr val="EE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hojas con suficiente evidencia</a:t>
                      </a:r>
                    </a:p>
                  </a:txBody>
                  <a:tcPr marL="57600" marR="57600" marT="14400" marB="14400" anchor="ctr">
                    <a:solidFill>
                      <a:srgbClr val="EEF2EA"/>
                    </a:solidFill>
                  </a:tcPr>
                </a:tc>
              </a:tr>
              <a:tr h="2880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Calibri"/>
                        </a:rPr>
                        <a:t>subsample, colsample</a:t>
                      </a:r>
                    </a:p>
                  </a:txBody>
                  <a:tcPr marL="57600" marR="576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filas y columnas</a:t>
                      </a:r>
                    </a:p>
                  </a:txBody>
                  <a:tcPr marL="57600" marR="576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azar que decorrelaciona árboles</a:t>
                      </a:r>
                    </a:p>
                  </a:txBody>
                  <a:tcPr marL="57600" marR="57600" marT="14400" marB="14400" anchor="ctr"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Calibri"/>
                        </a:rPr>
                        <a:t>reg_lambda, gamma</a:t>
                      </a:r>
                    </a:p>
                  </a:txBody>
                  <a:tcPr marL="57600" marR="57600" marT="14400" marB="14400" anchor="ctr">
                    <a:solidFill>
                      <a:srgbClr val="EE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λ, γ</a:t>
                      </a:r>
                    </a:p>
                  </a:txBody>
                  <a:tcPr marL="57600" marR="57600" marT="14400" marB="14400" anchor="ctr">
                    <a:solidFill>
                      <a:srgbClr val="EE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encoge pesos, cobra hojas</a:t>
                      </a:r>
                    </a:p>
                  </a:txBody>
                  <a:tcPr marL="57600" marR="57600" marT="14400" marB="14400" anchor="ctr">
                    <a:solidFill>
                      <a:srgbClr val="EEF2EA"/>
                    </a:solidFill>
                  </a:tcPr>
                </a:tc>
              </a:tr>
            </a:tbl>
          </a:graphicData>
        </a:graphic>
      </p:graphicFrame>
      <p:pic>
        <p:nvPicPr>
          <p:cNvPr id="10" name="Picture 9" descr="complejid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0000" y="1152000"/>
            <a:ext cx="3671999" cy="2674623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68000" y="3348000"/>
            <a:ext cx="2664000" cy="1368000"/>
          </a:xfrm>
          <a:prstGeom prst="rect">
            <a:avLst/>
          </a:prstGeom>
          <a:solidFill>
            <a:srgbClr val="E8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000" y="3456000"/>
            <a:ext cx="234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05731"/>
                </a:solidFill>
                <a:latin typeface="Calibri"/>
              </a:rPr>
              <a:t>Supuestos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000" y="3715200"/>
            <a:ext cx="2340000" cy="9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Filas independientes dado x (por eso los pliegues agrupan por orden); la relación de 2021-2025 sigue valiendo en 2026; no supone linealidad ni normalidad.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40000" y="3348000"/>
            <a:ext cx="2664000" cy="1368000"/>
          </a:xfrm>
          <a:prstGeom prst="rect">
            <a:avLst/>
          </a:prstGeom>
          <a:solidFill>
            <a:srgbClr val="F5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01999" y="3456000"/>
            <a:ext cx="234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05731"/>
                </a:solidFill>
                <a:latin typeface="Calibri"/>
              </a:rPr>
              <a:t>Complejidad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01999" y="3715200"/>
            <a:ext cx="2340000" cy="9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Ajuste O(M·D·n·d′) por histograma; predicción O(M·D). Medido: 162 s con 311.865 filas; 16,8 ms por cada 1.000 predicciones.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12000" y="3348000"/>
            <a:ext cx="2700000" cy="1368000"/>
          </a:xfrm>
          <a:prstGeom prst="rect">
            <a:avLst/>
          </a:prstGeom>
          <a:solidFill>
            <a:srgbClr val="EE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3999" y="3456000"/>
            <a:ext cx="2376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05731"/>
                </a:solidFill>
                <a:latin typeface="Calibri"/>
              </a:rPr>
              <a:t>Generalización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3999" y="3715200"/>
            <a:ext cx="2376000" cy="9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Regularización más validación por ventanas en el tiempo; una entidad nueva recibe la tasa de su nivel superior.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000" y="4842000"/>
            <a:ext cx="8243999" cy="14400"/>
          </a:xfrm>
          <a:prstGeom prst="rect">
            <a:avLst/>
          </a:prstGeom>
          <a:solidFill>
            <a:srgbClr val="DDD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8000" y="4896000"/>
            <a:ext cx="594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8C8C8C"/>
                </a:solidFill>
                <a:latin typeface="Calibri"/>
              </a:rPr>
              <a:t>Fuente: libro, capítulo 8: resultados/complejidad.csv (tiempos medidos en srvgdai)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8000" y="4896000"/>
            <a:ext cx="2304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8C8C8C"/>
                </a:solidFill>
                <a:latin typeface="Calibri"/>
              </a:rPr>
              <a:t>12 / 21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76000"/>
          </a:xfrm>
          <a:prstGeom prst="rect">
            <a:avLst/>
          </a:prstGeom>
          <a:solidFill>
            <a:srgbClr val="405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76000"/>
            <a:ext cx="9144000" cy="36000"/>
          </a:xfrm>
          <a:prstGeom prst="rect">
            <a:avLst/>
          </a:prstGeom>
          <a:solidFill>
            <a:srgbClr val="B08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4000" y="72000"/>
            <a:ext cx="468000" cy="43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160" y="145440"/>
            <a:ext cx="355680" cy="26641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92000" y="125999"/>
            <a:ext cx="8172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Hacia adelante en el tiempo, con el mismo presupuesto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8000" y="756000"/>
            <a:ext cx="7308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B08A2D"/>
                </a:solidFill>
                <a:latin typeface="Calibri"/>
              </a:rPr>
              <a:t>CRITERIO 4  ·  DISEÑO EXPERIMENTAL</a:t>
            </a:r>
          </a:p>
        </p:txBody>
      </p:sp>
      <p:sp>
        <p:nvSpPr>
          <p:cNvPr id="8" name="Rectangle 7"/>
          <p:cNvSpPr/>
          <p:nvPr/>
        </p:nvSpPr>
        <p:spPr>
          <a:xfrm>
            <a:off x="468000" y="1044000"/>
            <a:ext cx="468000" cy="36000"/>
          </a:xfrm>
          <a:prstGeom prst="rect">
            <a:avLst/>
          </a:prstGeom>
          <a:solidFill>
            <a:srgbClr val="B08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9" name="Picture 8" descr="f_1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999" y="1224000"/>
            <a:ext cx="4608000" cy="220311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68000" y="1674000"/>
            <a:ext cx="360000" cy="172800"/>
          </a:xfrm>
          <a:prstGeom prst="rect">
            <a:avLst/>
          </a:prstGeom>
          <a:solidFill>
            <a:srgbClr val="405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46000" y="1674000"/>
            <a:ext cx="360000" cy="172800"/>
          </a:xfrm>
          <a:prstGeom prst="rect">
            <a:avLst/>
          </a:prstGeom>
          <a:solidFill>
            <a:srgbClr val="D9E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24000" y="1674000"/>
            <a:ext cx="360000" cy="172800"/>
          </a:xfrm>
          <a:prstGeom prst="rect">
            <a:avLst/>
          </a:prstGeom>
          <a:solidFill>
            <a:srgbClr val="B08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38000" y="1684800"/>
            <a:ext cx="720000" cy="1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5A5A5A"/>
                </a:solidFill>
                <a:latin typeface="Calibri"/>
              </a:rPr>
              <a:t>22-S1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8000" y="1897200"/>
            <a:ext cx="738000" cy="172800"/>
          </a:xfrm>
          <a:prstGeom prst="rect">
            <a:avLst/>
          </a:prstGeom>
          <a:solidFill>
            <a:srgbClr val="405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24000" y="1897200"/>
            <a:ext cx="360000" cy="172800"/>
          </a:xfrm>
          <a:prstGeom prst="rect">
            <a:avLst/>
          </a:prstGeom>
          <a:solidFill>
            <a:srgbClr val="D9E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602000" y="1897200"/>
            <a:ext cx="360000" cy="172800"/>
          </a:xfrm>
          <a:prstGeom prst="rect">
            <a:avLst/>
          </a:prstGeom>
          <a:solidFill>
            <a:srgbClr val="B08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15999" y="1908000"/>
            <a:ext cx="720000" cy="1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5A5A5A"/>
                </a:solidFill>
                <a:latin typeface="Calibri"/>
              </a:rPr>
              <a:t>22-S2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8000" y="2120400"/>
            <a:ext cx="1116000" cy="172800"/>
          </a:xfrm>
          <a:prstGeom prst="rect">
            <a:avLst/>
          </a:prstGeom>
          <a:solidFill>
            <a:srgbClr val="405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602000" y="2120400"/>
            <a:ext cx="360000" cy="172800"/>
          </a:xfrm>
          <a:prstGeom prst="rect">
            <a:avLst/>
          </a:prstGeom>
          <a:solidFill>
            <a:srgbClr val="D9E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980000" y="2120400"/>
            <a:ext cx="360000" cy="172800"/>
          </a:xfrm>
          <a:prstGeom prst="rect">
            <a:avLst/>
          </a:prstGeom>
          <a:solidFill>
            <a:srgbClr val="B08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94000" y="2131200"/>
            <a:ext cx="720000" cy="1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5A5A5A"/>
                </a:solidFill>
                <a:latin typeface="Calibri"/>
              </a:rPr>
              <a:t>23-S1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8000" y="2343600"/>
            <a:ext cx="1494000" cy="172800"/>
          </a:xfrm>
          <a:prstGeom prst="rect">
            <a:avLst/>
          </a:prstGeom>
          <a:solidFill>
            <a:srgbClr val="405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980000" y="2343600"/>
            <a:ext cx="360000" cy="172800"/>
          </a:xfrm>
          <a:prstGeom prst="rect">
            <a:avLst/>
          </a:prstGeom>
          <a:solidFill>
            <a:srgbClr val="D9E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358000" y="2343600"/>
            <a:ext cx="360000" cy="172800"/>
          </a:xfrm>
          <a:prstGeom prst="rect">
            <a:avLst/>
          </a:prstGeom>
          <a:solidFill>
            <a:srgbClr val="B08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72000" y="2354400"/>
            <a:ext cx="720000" cy="1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5A5A5A"/>
                </a:solidFill>
                <a:latin typeface="Calibri"/>
              </a:rPr>
              <a:t>23-S2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8000" y="2566800"/>
            <a:ext cx="1872000" cy="172800"/>
          </a:xfrm>
          <a:prstGeom prst="rect">
            <a:avLst/>
          </a:prstGeom>
          <a:solidFill>
            <a:srgbClr val="405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358000" y="2566800"/>
            <a:ext cx="360000" cy="172800"/>
          </a:xfrm>
          <a:prstGeom prst="rect">
            <a:avLst/>
          </a:prstGeom>
          <a:solidFill>
            <a:srgbClr val="D9E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36000" y="2566800"/>
            <a:ext cx="360000" cy="172800"/>
          </a:xfrm>
          <a:prstGeom prst="rect">
            <a:avLst/>
          </a:prstGeom>
          <a:solidFill>
            <a:srgbClr val="B08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50000" y="2577600"/>
            <a:ext cx="720000" cy="1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5A5A5A"/>
                </a:solidFill>
                <a:latin typeface="Calibri"/>
              </a:rPr>
              <a:t>24-S1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8000" y="2790000"/>
            <a:ext cx="2250000" cy="172800"/>
          </a:xfrm>
          <a:prstGeom prst="rect">
            <a:avLst/>
          </a:prstGeom>
          <a:solidFill>
            <a:srgbClr val="405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736000" y="2790000"/>
            <a:ext cx="360000" cy="172800"/>
          </a:xfrm>
          <a:prstGeom prst="rect">
            <a:avLst/>
          </a:prstGeom>
          <a:solidFill>
            <a:srgbClr val="D9E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114000" y="2790000"/>
            <a:ext cx="360000" cy="172800"/>
          </a:xfrm>
          <a:prstGeom prst="rect">
            <a:avLst/>
          </a:prstGeom>
          <a:solidFill>
            <a:srgbClr val="B08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28000" y="2800800"/>
            <a:ext cx="720000" cy="1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5A5A5A"/>
                </a:solidFill>
                <a:latin typeface="Calibri"/>
              </a:rPr>
              <a:t>24-S2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8000" y="3013200"/>
            <a:ext cx="2628000" cy="172800"/>
          </a:xfrm>
          <a:prstGeom prst="rect">
            <a:avLst/>
          </a:prstGeom>
          <a:solidFill>
            <a:srgbClr val="405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114000" y="3013200"/>
            <a:ext cx="360000" cy="172800"/>
          </a:xfrm>
          <a:prstGeom prst="rect">
            <a:avLst/>
          </a:prstGeom>
          <a:solidFill>
            <a:srgbClr val="D9E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492000" y="3013200"/>
            <a:ext cx="360000" cy="172800"/>
          </a:xfrm>
          <a:prstGeom prst="rect">
            <a:avLst/>
          </a:prstGeom>
          <a:solidFill>
            <a:srgbClr val="B08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906000" y="3024000"/>
            <a:ext cx="720000" cy="1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5A5A5A"/>
                </a:solidFill>
                <a:latin typeface="Calibri"/>
              </a:rPr>
              <a:t>25-S1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8000" y="3236400"/>
            <a:ext cx="3006000" cy="172800"/>
          </a:xfrm>
          <a:prstGeom prst="rect">
            <a:avLst/>
          </a:prstGeom>
          <a:solidFill>
            <a:srgbClr val="405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492000" y="3236400"/>
            <a:ext cx="360000" cy="172800"/>
          </a:xfrm>
          <a:prstGeom prst="rect">
            <a:avLst/>
          </a:prstGeom>
          <a:solidFill>
            <a:srgbClr val="D9E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870000" y="3236400"/>
            <a:ext cx="360000" cy="172800"/>
          </a:xfrm>
          <a:prstGeom prst="rect">
            <a:avLst/>
          </a:prstGeom>
          <a:solidFill>
            <a:srgbClr val="B08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84000" y="3247200"/>
            <a:ext cx="720000" cy="1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5A5A5A"/>
                </a:solidFill>
                <a:latin typeface="Calibri"/>
              </a:rPr>
              <a:t>25-S2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8000" y="3546000"/>
            <a:ext cx="468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>
                <a:solidFill>
                  <a:srgbClr val="405731"/>
                </a:solidFill>
                <a:latin typeface="Calibri"/>
              </a:rPr>
              <a:t>verde: entrena   </a:t>
            </a:r>
            <a:r>
              <a:rPr sz="950" b="0">
                <a:solidFill>
                  <a:srgbClr val="5A5A5A"/>
                </a:solidFill>
                <a:latin typeface="Calibri"/>
              </a:rPr>
              <a:t>gris: valida adentro (elige hiperparámetros)   </a:t>
            </a:r>
            <a:r>
              <a:rPr sz="950" b="1">
                <a:solidFill>
                  <a:srgbClr val="B08A2D"/>
                </a:solidFill>
                <a:latin typeface="Calibri"/>
              </a:rPr>
              <a:t>oro: evalúa (bucle externo)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8000" y="3816000"/>
            <a:ext cx="4680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Calibri"/>
              </a:rPr>
              <a:t>Bucle externo: 8 semestres, cada uno predicho con todo lo anterior. Bucle interno: el último semestre de cada ventana elige los hiperparámetros. La prueba 2026 no entra en nada de esto.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00000" y="1188000"/>
            <a:ext cx="3311999" cy="1655999"/>
          </a:xfrm>
          <a:prstGeom prst="rect">
            <a:avLst/>
          </a:prstGeom>
          <a:solidFill>
            <a:srgbClr val="E8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562000" y="1295999"/>
            <a:ext cx="2987999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405731"/>
                </a:solidFill>
                <a:latin typeface="Calibri"/>
              </a:rPr>
              <a:t>4 balanceos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562000" y="1555200"/>
            <a:ext cx="2987999" cy="124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Calibri"/>
              </a:rPr>
              <a:t>Ninguno, SMOTE, ADASYN y pesos de clase, siempre dentro del pipeline y solo sobre el entrenamiento de cada ventana: lo sintético nunca llega a la evaluación.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00000" y="2951999"/>
            <a:ext cx="3311999" cy="1764000"/>
          </a:xfrm>
          <a:prstGeom prst="rect">
            <a:avLst/>
          </a:prstGeom>
          <a:solidFill>
            <a:srgbClr val="F5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562000" y="3060000"/>
            <a:ext cx="2987999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405731"/>
                </a:solidFill>
                <a:latin typeface="Calibri"/>
              </a:rPr>
              <a:t>4 optimizadores, mismo presupuesto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562000" y="3319199"/>
            <a:ext cx="2987999" cy="1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Calibri"/>
              </a:rPr>
              <a:t>20 evaluaciones por combinación y bloque para Grid, Random, Optuna (TPE) y DEAP (genético). Medias y desviaciones salen de los 8 bloques externos.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8000" y="4842000"/>
            <a:ext cx="8243999" cy="14400"/>
          </a:xfrm>
          <a:prstGeom prst="rect">
            <a:avLst/>
          </a:prstGeom>
          <a:solidFill>
            <a:srgbClr val="DDD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68000" y="4896000"/>
            <a:ext cx="594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8C8C8C"/>
                </a:solidFill>
                <a:latin typeface="Calibri"/>
              </a:rPr>
              <a:t>Fuente: libro, capítulo 6 (las 112): src/validacion.py, src/experimentos.py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8000" y="4896000"/>
            <a:ext cx="2304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8C8C8C"/>
                </a:solidFill>
                <a:latin typeface="Calibri"/>
              </a:rPr>
              <a:t>13 / 21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76000"/>
          </a:xfrm>
          <a:prstGeom prst="rect">
            <a:avLst/>
          </a:prstGeom>
          <a:solidFill>
            <a:srgbClr val="405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76000"/>
            <a:ext cx="9144000" cy="36000"/>
          </a:xfrm>
          <a:prstGeom prst="rect">
            <a:avLst/>
          </a:prstGeom>
          <a:solidFill>
            <a:srgbClr val="B08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4000" y="72000"/>
            <a:ext cx="468000" cy="43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160" y="145440"/>
            <a:ext cx="355680" cy="26641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92000" y="125999"/>
            <a:ext cx="8172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Implementación: un pipeline, un espacio de búsqueda y pruebas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8000" y="756000"/>
            <a:ext cx="7308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B08A2D"/>
                </a:solidFill>
                <a:latin typeface="Calibri"/>
              </a:rPr>
              <a:t>CRITERIO 4  ·  IMPLEMENTACIÓN E HIPERPARÁMETROS</a:t>
            </a:r>
          </a:p>
        </p:txBody>
      </p:sp>
      <p:sp>
        <p:nvSpPr>
          <p:cNvPr id="8" name="Rectangle 7"/>
          <p:cNvSpPr/>
          <p:nvPr/>
        </p:nvSpPr>
        <p:spPr>
          <a:xfrm>
            <a:off x="468000" y="1044000"/>
            <a:ext cx="468000" cy="36000"/>
          </a:xfrm>
          <a:prstGeom prst="rect">
            <a:avLst/>
          </a:prstGeom>
          <a:solidFill>
            <a:srgbClr val="B08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68000" y="1188000"/>
          <a:ext cx="4535999" cy="17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941"/>
                <a:gridCol w="1423058"/>
                <a:gridCol w="1512000"/>
              </a:tblGrid>
              <a:tr h="2520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hiperparámetro</a:t>
                      </a:r>
                    </a:p>
                  </a:txBody>
                  <a:tcPr marL="57600" marR="57600" marT="14400" marB="14400" anchor="ctr">
                    <a:solidFill>
                      <a:srgbClr val="4057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espacio</a:t>
                      </a:r>
                    </a:p>
                  </a:txBody>
                  <a:tcPr marL="57600" marR="57600" marT="14400" marB="14400" anchor="ctr">
                    <a:solidFill>
                      <a:srgbClr val="4057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elegido (8 bloques)</a:t>
                      </a:r>
                    </a:p>
                  </a:txBody>
                  <a:tcPr marL="57600" marR="57600" marT="14400" marB="14400" anchor="ctr">
                    <a:solidFill>
                      <a:srgbClr val="405731"/>
                    </a:solidFill>
                  </a:tcPr>
                </a:tc>
              </a:tr>
              <a:tr h="2520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Calibri"/>
                        </a:rPr>
                        <a:t>n_estimators</a:t>
                      </a:r>
                    </a:p>
                  </a:txBody>
                  <a:tcPr marL="57600" marR="576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100 a 600</a:t>
                      </a:r>
                    </a:p>
                  </a:txBody>
                  <a:tcPr marL="57600" marR="576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266 a 587</a:t>
                      </a:r>
                    </a:p>
                  </a:txBody>
                  <a:tcPr marL="57600" marR="57600" marT="14400" marB="14400" anchor="ctr">
                    <a:solidFill>
                      <a:srgbClr val="FFFFFF"/>
                    </a:solidFill>
                  </a:tcPr>
                </a:tc>
              </a:tr>
              <a:tr h="2520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Calibri"/>
                        </a:rPr>
                        <a:t>learning_rate</a:t>
                      </a:r>
                    </a:p>
                  </a:txBody>
                  <a:tcPr marL="57600" marR="57600" marT="14400" marB="14400" anchor="ctr">
                    <a:solidFill>
                      <a:srgbClr val="EE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0,01 a 0,3 (log)</a:t>
                      </a:r>
                    </a:p>
                  </a:txBody>
                  <a:tcPr marL="57600" marR="57600" marT="14400" marB="14400" anchor="ctr">
                    <a:solidFill>
                      <a:srgbClr val="EE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0,02 a 0,12</a:t>
                      </a:r>
                    </a:p>
                  </a:txBody>
                  <a:tcPr marL="57600" marR="57600" marT="14400" marB="14400" anchor="ctr">
                    <a:solidFill>
                      <a:srgbClr val="EEF2EA"/>
                    </a:solidFill>
                  </a:tcPr>
                </a:tc>
              </a:tr>
              <a:tr h="2520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Calibri"/>
                        </a:rPr>
                        <a:t>max_depth</a:t>
                      </a:r>
                    </a:p>
                  </a:txBody>
                  <a:tcPr marL="57600" marR="576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3 a 10</a:t>
                      </a:r>
                    </a:p>
                  </a:txBody>
                  <a:tcPr marL="57600" marR="576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4 a 10</a:t>
                      </a:r>
                    </a:p>
                  </a:txBody>
                  <a:tcPr marL="57600" marR="57600" marT="14400" marB="14400" anchor="ctr">
                    <a:solidFill>
                      <a:srgbClr val="FFFFFF"/>
                    </a:solidFill>
                  </a:tcPr>
                </a:tc>
              </a:tr>
              <a:tr h="2520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Calibri"/>
                        </a:rPr>
                        <a:t>subsample</a:t>
                      </a:r>
                    </a:p>
                  </a:txBody>
                  <a:tcPr marL="57600" marR="57600" marT="14400" marB="14400" anchor="ctr">
                    <a:solidFill>
                      <a:srgbClr val="EE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0,5 a 1</a:t>
                      </a:r>
                    </a:p>
                  </a:txBody>
                  <a:tcPr marL="57600" marR="57600" marT="14400" marB="14400" anchor="ctr">
                    <a:solidFill>
                      <a:srgbClr val="EE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0,52 a 0,94</a:t>
                      </a:r>
                    </a:p>
                  </a:txBody>
                  <a:tcPr marL="57600" marR="57600" marT="14400" marB="14400" anchor="ctr">
                    <a:solidFill>
                      <a:srgbClr val="EEF2EA"/>
                    </a:solidFill>
                  </a:tcPr>
                </a:tc>
              </a:tr>
              <a:tr h="2520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Calibri"/>
                        </a:rPr>
                        <a:t>colsample_bytree</a:t>
                      </a:r>
                    </a:p>
                  </a:txBody>
                  <a:tcPr marL="57600" marR="576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0,3 a 1</a:t>
                      </a:r>
                    </a:p>
                  </a:txBody>
                  <a:tcPr marL="57600" marR="576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0,31 a 0,86</a:t>
                      </a:r>
                    </a:p>
                  </a:txBody>
                  <a:tcPr marL="57600" marR="57600" marT="14400" marB="14400" anchor="ctr">
                    <a:solidFill>
                      <a:srgbClr val="FFFFFF"/>
                    </a:solidFill>
                  </a:tcPr>
                </a:tc>
              </a:tr>
              <a:tr h="2520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Calibri"/>
                        </a:rPr>
                        <a:t>min_child_weight</a:t>
                      </a:r>
                    </a:p>
                  </a:txBody>
                  <a:tcPr marL="57600" marR="57600" marT="14400" marB="14400" anchor="ctr">
                    <a:solidFill>
                      <a:srgbClr val="EE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1 a 100 (log)</a:t>
                      </a:r>
                    </a:p>
                  </a:txBody>
                  <a:tcPr marL="57600" marR="57600" marT="14400" marB="14400" anchor="ctr">
                    <a:solidFill>
                      <a:srgbClr val="EE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8,91 a 38,19</a:t>
                      </a:r>
                    </a:p>
                  </a:txBody>
                  <a:tcPr marL="57600" marR="57600" marT="14400" marB="14400" anchor="ctr">
                    <a:solidFill>
                      <a:srgbClr val="EEF2EA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68000" y="3060000"/>
            <a:ext cx="4536000" cy="827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A5A5A"/>
                </a:solidFill>
                <a:latin typeface="Calibri"/>
              </a:rPr>
              <a:t>Con un semestre de entrenamiento gana un modelo de muchos árboles poco profundos; con más datos la profundidad sube a 7-10 y el submuestreo baja. Cerca del óptimo la superficie es plana: configuraciones distintas dan AUC a milésimas.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8000" y="3960000"/>
            <a:ext cx="4536000" cy="756000"/>
          </a:xfrm>
          <a:prstGeom prst="rect">
            <a:avLst/>
          </a:prstGeom>
          <a:solidFill>
            <a:srgbClr val="EE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000" y="4024800"/>
            <a:ext cx="4176000" cy="64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405731"/>
                </a:solidFill>
                <a:latin typeface="Calibri"/>
              </a:rPr>
              <a:t>Reproducible:  </a:t>
            </a:r>
            <a:r>
              <a:rPr sz="1050" b="0">
                <a:solidFill>
                  <a:srgbClr val="1A1A1A"/>
                </a:solidFill>
                <a:latin typeface="Calibri"/>
              </a:rPr>
              <a:t>semilla 2026; un JSON por trabajo con parámetros y métricas; 201 horas de CPU en el servidor del grupo, 30 trabajos a la vez.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56000" y="1188000"/>
            <a:ext cx="3456000" cy="1728000"/>
          </a:xfrm>
          <a:prstGeom prst="rect">
            <a:avLst/>
          </a:prstGeom>
          <a:solidFill>
            <a:srgbClr val="E8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18000" y="1295999"/>
            <a:ext cx="3131999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405731"/>
                </a:solidFill>
                <a:latin typeface="Calibri"/>
              </a:rPr>
              <a:t>Un solo pipeline de scikit-learn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18000" y="1555200"/>
            <a:ext cx="3131999" cy="131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Calibri"/>
              </a:rPr>
              <a:t>preprocesador (log, imputación, one-hot, codificación por objetivo) → balanceo → modelo;</a:t>
            </a:r>
          </a:p>
          <a:p>
            <a:pPr algn="l"/>
            <a:r>
              <a:rPr sz="1050" b="0">
                <a:solidFill>
                  <a:srgbClr val="1A1A1A"/>
                </a:solidFill>
                <a:latin typeface="Calibri"/>
              </a:rPr>
              <a:t>el preprocesador se ajusta solo con el entrenamiento de cada ventana.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56000" y="3024000"/>
            <a:ext cx="3456000" cy="1692000"/>
          </a:xfrm>
          <a:prstGeom prst="rect">
            <a:avLst/>
          </a:prstGeom>
          <a:solidFill>
            <a:srgbClr val="F5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18000" y="3132000"/>
            <a:ext cx="3131999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405731"/>
                </a:solidFill>
                <a:latin typeface="Calibri"/>
              </a:rPr>
              <a:t>Pruebas e integración continua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18000" y="3391200"/>
            <a:ext cx="3131999" cy="12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Calibri"/>
              </a:rPr>
              <a:t>57 pruebas con pytest (codificación fuera de pliegue, series, modelo servido, tablero, que no se publiquen identificadores) que corren en GitHub en cada cambio.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8000" y="4842000"/>
            <a:ext cx="8243999" cy="14400"/>
          </a:xfrm>
          <a:prstGeom prst="rect">
            <a:avLst/>
          </a:prstGeom>
          <a:solidFill>
            <a:srgbClr val="DDD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8000" y="4896000"/>
            <a:ext cx="594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8C8C8C"/>
                </a:solidFill>
                <a:latin typeface="Calibri"/>
              </a:rPr>
              <a:t>Fuente: src/experimentos.py (ESPACIOS), resultados/experimentos/trabajos/*.json, tests/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8000" y="4896000"/>
            <a:ext cx="2304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8C8C8C"/>
                </a:solidFill>
                <a:latin typeface="Calibri"/>
              </a:rPr>
              <a:t>14 / 21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76000"/>
          </a:xfrm>
          <a:prstGeom prst="rect">
            <a:avLst/>
          </a:prstGeom>
          <a:solidFill>
            <a:srgbClr val="405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76000"/>
            <a:ext cx="9144000" cy="36000"/>
          </a:xfrm>
          <a:prstGeom prst="rect">
            <a:avLst/>
          </a:prstGeom>
          <a:solidFill>
            <a:srgbClr val="B08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4000" y="72000"/>
            <a:ext cx="468000" cy="43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160" y="145440"/>
            <a:ext cx="355680" cy="26641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92000" y="125999"/>
            <a:ext cx="8172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Optuna llega antes; con 20 evaluaciones empatan los cuatro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8000" y="756000"/>
            <a:ext cx="7308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B08A2D"/>
                </a:solidFill>
                <a:latin typeface="Calibri"/>
              </a:rPr>
              <a:t>CRITERIO 4  ·  PANTALLA EN VIVO: LAS 112</a:t>
            </a:r>
          </a:p>
        </p:txBody>
      </p:sp>
      <p:sp>
        <p:nvSpPr>
          <p:cNvPr id="8" name="Rectangle 7"/>
          <p:cNvSpPr/>
          <p:nvPr/>
        </p:nvSpPr>
        <p:spPr>
          <a:xfrm>
            <a:off x="468000" y="1044000"/>
            <a:ext cx="468000" cy="36000"/>
          </a:xfrm>
          <a:prstGeom prst="rect">
            <a:avLst/>
          </a:prstGeom>
          <a:solidFill>
            <a:srgbClr val="B08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9" name="Picture 8" descr="optimizado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00" y="1152000"/>
            <a:ext cx="4536000" cy="3078000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148000" y="1224000"/>
          <a:ext cx="3563998" cy="1187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0048"/>
                <a:gridCol w="1651609"/>
                <a:gridCol w="782341"/>
              </a:tblGrid>
              <a:tr h="237599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optimizador</a:t>
                      </a:r>
                    </a:p>
                  </a:txBody>
                  <a:tcPr marL="57600" marR="57600" marT="14400" marB="14400" anchor="ctr">
                    <a:solidFill>
                      <a:srgbClr val="4057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AUC perdido a 5 evaluaciones</a:t>
                      </a:r>
                    </a:p>
                  </a:txBody>
                  <a:tcPr marL="57600" marR="57600" marT="14400" marB="14400" anchor="ctr">
                    <a:solidFill>
                      <a:srgbClr val="4057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a 20</a:t>
                      </a:r>
                    </a:p>
                  </a:txBody>
                  <a:tcPr marL="57600" marR="57600" marT="14400" marB="14400" anchor="ctr">
                    <a:solidFill>
                      <a:srgbClr val="405731"/>
                    </a:solidFill>
                  </a:tcPr>
                </a:tc>
              </a:tr>
              <a:tr h="237599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Calibri"/>
                        </a:rPr>
                        <a:t>Optuna</a:t>
                      </a:r>
                    </a:p>
                  </a:txBody>
                  <a:tcPr marL="57600" marR="576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0,0064</a:t>
                      </a:r>
                    </a:p>
                  </a:txBody>
                  <a:tcPr marL="57600" marR="576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0,0011</a:t>
                      </a:r>
                    </a:p>
                  </a:txBody>
                  <a:tcPr marL="57600" marR="57600" marT="14400" marB="14400" anchor="ctr">
                    <a:solidFill>
                      <a:srgbClr val="FFFFFF"/>
                    </a:solidFill>
                  </a:tcPr>
                </a:tc>
              </a:tr>
              <a:tr h="237599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Calibri"/>
                        </a:rPr>
                        <a:t>DEAP</a:t>
                      </a:r>
                    </a:p>
                  </a:txBody>
                  <a:tcPr marL="57600" marR="57600" marT="14400" marB="14400" anchor="ctr">
                    <a:solidFill>
                      <a:srgbClr val="EE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0,0125</a:t>
                      </a:r>
                    </a:p>
                  </a:txBody>
                  <a:tcPr marL="57600" marR="57600" marT="14400" marB="14400" anchor="ctr">
                    <a:solidFill>
                      <a:srgbClr val="EE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0,0013</a:t>
                      </a:r>
                    </a:p>
                  </a:txBody>
                  <a:tcPr marL="57600" marR="57600" marT="14400" marB="14400" anchor="ctr">
                    <a:solidFill>
                      <a:srgbClr val="EEF2EA"/>
                    </a:solidFill>
                  </a:tcPr>
                </a:tc>
              </a:tr>
              <a:tr h="237599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Calibri"/>
                        </a:rPr>
                        <a:t>Random</a:t>
                      </a:r>
                    </a:p>
                  </a:txBody>
                  <a:tcPr marL="57600" marR="576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0,0148</a:t>
                      </a:r>
                    </a:p>
                  </a:txBody>
                  <a:tcPr marL="57600" marR="576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0,0030</a:t>
                      </a:r>
                    </a:p>
                  </a:txBody>
                  <a:tcPr marL="57600" marR="57600" marT="14400" marB="14400" anchor="ctr">
                    <a:solidFill>
                      <a:srgbClr val="FFFFFF"/>
                    </a:solidFill>
                  </a:tcPr>
                </a:tc>
              </a:tr>
              <a:tr h="237599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Calibri"/>
                        </a:rPr>
                        <a:t>Grid</a:t>
                      </a:r>
                    </a:p>
                  </a:txBody>
                  <a:tcPr marL="57600" marR="57600" marT="14400" marB="14400" anchor="ctr">
                    <a:solidFill>
                      <a:srgbClr val="EE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0,0417</a:t>
                      </a:r>
                    </a:p>
                  </a:txBody>
                  <a:tcPr marL="57600" marR="57600" marT="14400" marB="14400" anchor="ctr">
                    <a:solidFill>
                      <a:srgbClr val="EE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0,0034</a:t>
                      </a:r>
                    </a:p>
                  </a:txBody>
                  <a:tcPr marL="57600" marR="57600" marT="14400" marB="14400" anchor="ctr">
                    <a:solidFill>
                      <a:srgbClr val="EEF2EA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148000" y="2556000"/>
            <a:ext cx="3564000" cy="2160000"/>
          </a:xfrm>
          <a:prstGeom prst="rect">
            <a:avLst/>
          </a:prstGeom>
          <a:solidFill>
            <a:srgbClr val="405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10000" y="2664000"/>
            <a:ext cx="3240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2E3BE"/>
                </a:solidFill>
                <a:latin typeface="Calibri"/>
              </a:rPr>
              <a:t>EN VIVO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10000" y="2916000"/>
            <a:ext cx="3240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D9E2D2"/>
                </a:solidFill>
                <a:latin typeface="Calibri"/>
              </a:rPr>
              <a:t>otif-compras-ml.onrender.com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10000" y="3204000"/>
            <a:ext cx="3240000" cy="14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FFFFFF"/>
                </a:solidFill>
                <a:latin typeface="Calibri"/>
              </a:rPr>
              <a:t>1. Modelos → Las 112 combinaciones.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FFFFFF"/>
                </a:solidFill>
                <a:latin typeface="Calibri"/>
              </a:rPr>
              <a:t>2. Tabla de líderes: las mejores combinaciones, con media ± desviación del bucle externo.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FFFFFF"/>
                </a:solidFill>
                <a:latin typeface="Calibri"/>
              </a:rPr>
              <a:t>3. Mapa balanceo × optimizador de XGBoost: el balanceo casi no mueve el AUC.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8000" y="4842000"/>
            <a:ext cx="8243999" cy="14400"/>
          </a:xfrm>
          <a:prstGeom prst="rect">
            <a:avLst/>
          </a:prstGeom>
          <a:solidFill>
            <a:srgbClr val="DDD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8000" y="4896000"/>
            <a:ext cx="594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8C8C8C"/>
                </a:solidFill>
                <a:latin typeface="Calibri"/>
              </a:rPr>
              <a:t>Fuente: tablero, página Modelos (otif-compras-ml.onrender.com); data/modelos/curvas_optimizador.csv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8000" y="4896000"/>
            <a:ext cx="2304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8C8C8C"/>
                </a:solidFill>
                <a:latin typeface="Calibri"/>
              </a:rPr>
              <a:t>15 / 21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76000"/>
          </a:xfrm>
          <a:prstGeom prst="rect">
            <a:avLst/>
          </a:prstGeom>
          <a:solidFill>
            <a:srgbClr val="405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76000"/>
            <a:ext cx="9144000" cy="36000"/>
          </a:xfrm>
          <a:prstGeom prst="rect">
            <a:avLst/>
          </a:prstGeom>
          <a:solidFill>
            <a:srgbClr val="B08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4000" y="72000"/>
            <a:ext cx="468000" cy="43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160" y="145440"/>
            <a:ext cx="355680" cy="26641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92000" y="125999"/>
            <a:ext cx="8172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XGBoost gana los 8 bloques: AUC 0,852 contra 0,843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8000" y="756000"/>
            <a:ext cx="7308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B08A2D"/>
                </a:solidFill>
                <a:latin typeface="Calibri"/>
              </a:rPr>
              <a:t>CRITERIO 5  ·  MÉTRICAS, LÍNEA BASE Y COMPARACIÓN</a:t>
            </a:r>
          </a:p>
        </p:txBody>
      </p:sp>
      <p:sp>
        <p:nvSpPr>
          <p:cNvPr id="8" name="Rectangle 7"/>
          <p:cNvSpPr/>
          <p:nvPr/>
        </p:nvSpPr>
        <p:spPr>
          <a:xfrm>
            <a:off x="468000" y="1044000"/>
            <a:ext cx="468000" cy="36000"/>
          </a:xfrm>
          <a:prstGeom prst="rect">
            <a:avLst/>
          </a:prstGeom>
          <a:solidFill>
            <a:srgbClr val="B08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68000" y="1188000"/>
          <a:ext cx="4896000" cy="208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2000"/>
                <a:gridCol w="994500"/>
                <a:gridCol w="612000"/>
                <a:gridCol w="535500"/>
                <a:gridCol w="612000"/>
              </a:tblGrid>
              <a:tr h="2610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modelo (mejor combinación)</a:t>
                      </a:r>
                    </a:p>
                  </a:txBody>
                  <a:tcPr marL="57600" marR="57600" marT="14400" marB="14400" anchor="ctr">
                    <a:solidFill>
                      <a:srgbClr val="4057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AUC ± desv.</a:t>
                      </a:r>
                    </a:p>
                  </a:txBody>
                  <a:tcPr marL="57600" marR="57600" marT="14400" marB="14400" anchor="ctr">
                    <a:solidFill>
                      <a:srgbClr val="4057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PR-AUC</a:t>
                      </a:r>
                    </a:p>
                  </a:txBody>
                  <a:tcPr marL="57600" marR="57600" marT="14400" marB="14400" anchor="ctr">
                    <a:solidFill>
                      <a:srgbClr val="4057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 marL="57600" marR="57600" marT="14400" marB="14400" anchor="ctr">
                    <a:solidFill>
                      <a:srgbClr val="4057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ms / 1.000</a:t>
                      </a:r>
                    </a:p>
                  </a:txBody>
                  <a:tcPr marL="57600" marR="57600" marT="14400" marB="14400" anchor="ctr">
                    <a:solidFill>
                      <a:srgbClr val="405731"/>
                    </a:solidFill>
                  </a:tcPr>
                </a:tc>
              </a:tr>
              <a:tr h="2610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Calibri"/>
                        </a:rPr>
                        <a:t>XGBoost · sin balanceo · Optuna</a:t>
                      </a:r>
                    </a:p>
                  </a:txBody>
                  <a:tcPr marL="57600" marR="576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0,852 ± 0,020</a:t>
                      </a:r>
                    </a:p>
                  </a:txBody>
                  <a:tcPr marL="57600" marR="576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0,778</a:t>
                      </a:r>
                    </a:p>
                  </a:txBody>
                  <a:tcPr marL="57600" marR="576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0,676</a:t>
                      </a:r>
                    </a:p>
                  </a:txBody>
                  <a:tcPr marL="57600" marR="576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17,3</a:t>
                      </a:r>
                    </a:p>
                  </a:txBody>
                  <a:tcPr marL="57600" marR="57600" marT="14400" marB="14400" anchor="ctr">
                    <a:solidFill>
                      <a:srgbClr val="FFFFFF"/>
                    </a:solidFill>
                  </a:tcPr>
                </a:tc>
              </a:tr>
              <a:tr h="2610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Calibri"/>
                        </a:rPr>
                        <a:t>Random Forest · SMOTE · Grid</a:t>
                      </a:r>
                    </a:p>
                  </a:txBody>
                  <a:tcPr marL="57600" marR="57600" marT="14400" marB="14400" anchor="ctr">
                    <a:solidFill>
                      <a:srgbClr val="EE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0,843 ± 0,023</a:t>
                      </a:r>
                    </a:p>
                  </a:txBody>
                  <a:tcPr marL="57600" marR="57600" marT="14400" marB="14400" anchor="ctr">
                    <a:solidFill>
                      <a:srgbClr val="EE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0,761</a:t>
                      </a:r>
                    </a:p>
                  </a:txBody>
                  <a:tcPr marL="57600" marR="57600" marT="14400" marB="14400" anchor="ctr">
                    <a:solidFill>
                      <a:srgbClr val="EE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0,660</a:t>
                      </a:r>
                    </a:p>
                  </a:txBody>
                  <a:tcPr marL="57600" marR="57600" marT="14400" marB="14400" anchor="ctr">
                    <a:solidFill>
                      <a:srgbClr val="EE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31,8</a:t>
                      </a:r>
                    </a:p>
                  </a:txBody>
                  <a:tcPr marL="57600" marR="57600" marT="14400" marB="14400" anchor="ctr">
                    <a:solidFill>
                      <a:srgbClr val="EEF2EA"/>
                    </a:solidFill>
                  </a:tcPr>
                </a:tc>
              </a:tr>
              <a:tr h="2610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Calibri"/>
                        </a:rPr>
                        <a:t>Logística (SGD) · pesos · Grid</a:t>
                      </a:r>
                    </a:p>
                  </a:txBody>
                  <a:tcPr marL="57600" marR="576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0,839 ± 0,025</a:t>
                      </a:r>
                    </a:p>
                  </a:txBody>
                  <a:tcPr marL="57600" marR="576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0,751</a:t>
                      </a:r>
                    </a:p>
                  </a:txBody>
                  <a:tcPr marL="57600" marR="576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0,663</a:t>
                      </a:r>
                    </a:p>
                  </a:txBody>
                  <a:tcPr marL="57600" marR="576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0,7</a:t>
                      </a:r>
                    </a:p>
                  </a:txBody>
                  <a:tcPr marL="57600" marR="57600" marT="14400" marB="14400" anchor="ctr">
                    <a:solidFill>
                      <a:srgbClr val="FFFFFF"/>
                    </a:solidFill>
                  </a:tcPr>
                </a:tc>
              </a:tr>
              <a:tr h="2610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Calibri"/>
                        </a:rPr>
                        <a:t>SVM lineal (SGD) · pesos · Random</a:t>
                      </a:r>
                    </a:p>
                  </a:txBody>
                  <a:tcPr marL="57600" marR="57600" marT="14400" marB="14400" anchor="ctr">
                    <a:solidFill>
                      <a:srgbClr val="EE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0,839 ± 0,024</a:t>
                      </a:r>
                    </a:p>
                  </a:txBody>
                  <a:tcPr marL="57600" marR="57600" marT="14400" marB="14400" anchor="ctr">
                    <a:solidFill>
                      <a:srgbClr val="EE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0,749</a:t>
                      </a:r>
                    </a:p>
                  </a:txBody>
                  <a:tcPr marL="57600" marR="57600" marT="14400" marB="14400" anchor="ctr">
                    <a:solidFill>
                      <a:srgbClr val="EE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0,659</a:t>
                      </a:r>
                    </a:p>
                  </a:txBody>
                  <a:tcPr marL="57600" marR="57600" marT="14400" marB="14400" anchor="ctr">
                    <a:solidFill>
                      <a:srgbClr val="EE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0,7</a:t>
                      </a:r>
                    </a:p>
                  </a:txBody>
                  <a:tcPr marL="57600" marR="57600" marT="14400" marB="14400" anchor="ctr">
                    <a:solidFill>
                      <a:srgbClr val="EEF2EA"/>
                    </a:solidFill>
                  </a:tcPr>
                </a:tc>
              </a:tr>
              <a:tr h="2610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Calibri"/>
                        </a:rPr>
                        <a:t>Árbol · sin balanceo · Optuna</a:t>
                      </a:r>
                    </a:p>
                  </a:txBody>
                  <a:tcPr marL="57600" marR="576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0,810 ± 0,020</a:t>
                      </a:r>
                    </a:p>
                  </a:txBody>
                  <a:tcPr marL="57600" marR="576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0,715</a:t>
                      </a:r>
                    </a:p>
                  </a:txBody>
                  <a:tcPr marL="57600" marR="576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0,634</a:t>
                      </a:r>
                    </a:p>
                  </a:txBody>
                  <a:tcPr marL="57600" marR="576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0,8</a:t>
                      </a:r>
                    </a:p>
                  </a:txBody>
                  <a:tcPr marL="57600" marR="57600" marT="14400" marB="14400" anchor="ctr">
                    <a:solidFill>
                      <a:srgbClr val="FFFFFF"/>
                    </a:solidFill>
                  </a:tcPr>
                </a:tc>
              </a:tr>
              <a:tr h="2610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Calibri"/>
                        </a:rPr>
                        <a:t>KNN (PCA 30) · SMOTE · Optuna</a:t>
                      </a:r>
                    </a:p>
                  </a:txBody>
                  <a:tcPr marL="57600" marR="57600" marT="14400" marB="14400" anchor="ctr">
                    <a:solidFill>
                      <a:srgbClr val="EE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0,781 ± 0,044</a:t>
                      </a:r>
                    </a:p>
                  </a:txBody>
                  <a:tcPr marL="57600" marR="57600" marT="14400" marB="14400" anchor="ctr">
                    <a:solidFill>
                      <a:srgbClr val="EE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0,665</a:t>
                      </a:r>
                    </a:p>
                  </a:txBody>
                  <a:tcPr marL="57600" marR="57600" marT="14400" marB="14400" anchor="ctr">
                    <a:solidFill>
                      <a:srgbClr val="EE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0,601</a:t>
                      </a:r>
                    </a:p>
                  </a:txBody>
                  <a:tcPr marL="57600" marR="57600" marT="14400" marB="14400" anchor="ctr">
                    <a:solidFill>
                      <a:srgbClr val="EE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1.414,6</a:t>
                      </a:r>
                    </a:p>
                  </a:txBody>
                  <a:tcPr marL="57600" marR="57600" marT="14400" marB="14400" anchor="ctr">
                    <a:solidFill>
                      <a:srgbClr val="EEF2EA"/>
                    </a:solidFill>
                  </a:tcPr>
                </a:tc>
              </a:tr>
              <a:tr h="2610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Calibri"/>
                        </a:rPr>
                        <a:t>Naive Bayes · SMOTE · DEAP</a:t>
                      </a:r>
                    </a:p>
                  </a:txBody>
                  <a:tcPr marL="57600" marR="576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0,735 ± 0,069</a:t>
                      </a:r>
                    </a:p>
                  </a:txBody>
                  <a:tcPr marL="57600" marR="576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0,566</a:t>
                      </a:r>
                    </a:p>
                  </a:txBody>
                  <a:tcPr marL="57600" marR="576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0,556</a:t>
                      </a:r>
                    </a:p>
                  </a:txBody>
                  <a:tcPr marL="57600" marR="576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29,4</a:t>
                      </a:r>
                    </a:p>
                  </a:txBody>
                  <a:tcPr marL="57600" marR="57600" marT="14400" marB="14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68000" y="3311999"/>
            <a:ext cx="4896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5A5A5A"/>
                </a:solidFill>
                <a:latin typeface="Calibri"/>
              </a:rPr>
              <a:t>AUC ordena por riesgo sin depender del umbral; PR-AUC atiende a la clase de interés; F1 mide la decisión al umbral; Brier y ECE dicen si la probabilidad es creíble.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68000" y="3671999"/>
          <a:ext cx="4895998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6557"/>
                <a:gridCol w="1444721"/>
                <a:gridCol w="722360"/>
                <a:gridCol w="722360"/>
              </a:tblGrid>
              <a:tr h="2700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prueba 2026</a:t>
                      </a:r>
                    </a:p>
                  </a:txBody>
                  <a:tcPr marL="57600" marR="57600" marT="14400" marB="14400" anchor="ctr">
                    <a:solidFill>
                      <a:srgbClr val="4057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AUC [BCa 95 %]</a:t>
                      </a:r>
                    </a:p>
                  </a:txBody>
                  <a:tcPr marL="57600" marR="57600" marT="14400" marB="14400" anchor="ctr">
                    <a:solidFill>
                      <a:srgbClr val="4057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 marL="57600" marR="57600" marT="14400" marB="14400" anchor="ctr">
                    <a:solidFill>
                      <a:srgbClr val="4057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ECE</a:t>
                      </a:r>
                    </a:p>
                  </a:txBody>
                  <a:tcPr marL="57600" marR="57600" marT="14400" marB="14400" anchor="ctr">
                    <a:solidFill>
                      <a:srgbClr val="405731"/>
                    </a:solidFill>
                  </a:tcPr>
                </a:tc>
              </a:tr>
              <a:tr h="27000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Calibri"/>
                        </a:rPr>
                        <a:t>regla del proveedor</a:t>
                      </a:r>
                    </a:p>
                  </a:txBody>
                  <a:tcPr marL="57600" marR="576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0,670</a:t>
                      </a:r>
                    </a:p>
                  </a:txBody>
                  <a:tcPr marL="57600" marR="576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0,509</a:t>
                      </a:r>
                    </a:p>
                  </a:txBody>
                  <a:tcPr marL="57600" marR="576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0,055</a:t>
                      </a:r>
                    </a:p>
                  </a:txBody>
                  <a:tcPr marL="57600" marR="57600" marT="14400" marB="14400" anchor="ctr"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Calibri"/>
                        </a:rPr>
                        <a:t>regresión logística</a:t>
                      </a:r>
                    </a:p>
                  </a:txBody>
                  <a:tcPr marL="57600" marR="57600" marT="14400" marB="14400" anchor="ctr">
                    <a:solidFill>
                      <a:srgbClr val="EE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0,825</a:t>
                      </a:r>
                    </a:p>
                  </a:txBody>
                  <a:tcPr marL="57600" marR="57600" marT="14400" marB="14400" anchor="ctr">
                    <a:solidFill>
                      <a:srgbClr val="EE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0,649</a:t>
                      </a:r>
                    </a:p>
                  </a:txBody>
                  <a:tcPr marL="57600" marR="57600" marT="14400" marB="14400" anchor="ctr">
                    <a:solidFill>
                      <a:srgbClr val="EE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0,021</a:t>
                      </a:r>
                    </a:p>
                  </a:txBody>
                  <a:tcPr marL="57600" marR="57600" marT="14400" marB="14400" anchor="ctr">
                    <a:solidFill>
                      <a:srgbClr val="EEF2EA"/>
                    </a:solidFill>
                  </a:tcPr>
                </a:tc>
              </a:tr>
              <a:tr h="27000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Calibri"/>
                        </a:rPr>
                        <a:t>XGBoost, con Platt</a:t>
                      </a:r>
                    </a:p>
                  </a:txBody>
                  <a:tcPr marL="57600" marR="576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0,848 [0,835; 0,860]</a:t>
                      </a:r>
                    </a:p>
                  </a:txBody>
                  <a:tcPr marL="57600" marR="576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0,675</a:t>
                      </a:r>
                    </a:p>
                  </a:txBody>
                  <a:tcPr marL="57600" marR="576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0,022</a:t>
                      </a:r>
                    </a:p>
                  </a:txBody>
                  <a:tcPr marL="57600" marR="57600" marT="14400" marB="14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616000" y="1188000"/>
            <a:ext cx="3096000" cy="2448000"/>
          </a:xfrm>
          <a:prstGeom prst="rect">
            <a:avLst/>
          </a:prstGeom>
          <a:solidFill>
            <a:srgbClr val="E8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78000" y="1295999"/>
            <a:ext cx="2771999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405731"/>
                </a:solidFill>
                <a:latin typeface="Calibri"/>
              </a:rPr>
              <a:t>Cómo leer la tabla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78000" y="1555200"/>
            <a:ext cx="2771999" cy="203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Media y desviación de los 8 bloques externos: cada cifra se midió en un semestre que el modelo no vio.</a:t>
            </a:r>
          </a:p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La línea base son la regla del proveedor (su tasa previa de retraso) y la logística, medidas en 2026.</a:t>
            </a:r>
          </a:p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Frente a la logística, con el mismo 20 % de alertas: 35 tardías más por mes, 17 de material sin stock.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16000" y="3744000"/>
            <a:ext cx="3096000" cy="972000"/>
          </a:xfrm>
          <a:prstGeom prst="rect">
            <a:avLst/>
          </a:prstGeom>
          <a:solidFill>
            <a:srgbClr val="E8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78000" y="3852000"/>
            <a:ext cx="2771999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405731"/>
                </a:solidFill>
                <a:latin typeface="Calibri"/>
              </a:rPr>
              <a:t>De la validación a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78000" y="4111200"/>
            <a:ext cx="2771999" cy="55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AUC interno 0,854, bloques externos 0,852, prueba 2026 0,848: no cae.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8000" y="4842000"/>
            <a:ext cx="8243999" cy="14400"/>
          </a:xfrm>
          <a:prstGeom prst="rect">
            <a:avLst/>
          </a:prstGeom>
          <a:solidFill>
            <a:srgbClr val="DDD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8000" y="4896000"/>
            <a:ext cx="594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8C8C8C"/>
                </a:solidFill>
                <a:latin typeface="Calibri"/>
              </a:rPr>
              <a:t>Fuente: libro, capítulos 6 y 7: data/modelos/lideres.csv; resultados/prueba_2026/metricas.csv, brecha.csv, criticas.csv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8000" y="4896000"/>
            <a:ext cx="2304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8C8C8C"/>
                </a:solidFill>
                <a:latin typeface="Calibri"/>
              </a:rPr>
              <a:t>16 / 21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76000"/>
          </a:xfrm>
          <a:prstGeom prst="rect">
            <a:avLst/>
          </a:prstGeom>
          <a:solidFill>
            <a:srgbClr val="405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76000"/>
            <a:ext cx="9144000" cy="36000"/>
          </a:xfrm>
          <a:prstGeom prst="rect">
            <a:avLst/>
          </a:prstGeom>
          <a:solidFill>
            <a:srgbClr val="B08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4000" y="72000"/>
            <a:ext cx="468000" cy="43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160" y="145440"/>
            <a:ext cx="355680" cy="26641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92000" y="125999"/>
            <a:ext cx="8172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Tablero: una predicción en vivo, y la prueba de diferencias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8000" y="756000"/>
            <a:ext cx="7308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B08A2D"/>
                </a:solidFill>
                <a:latin typeface="Calibri"/>
              </a:rPr>
              <a:t>CRITERIO 5  ·  PANTALLA EN VIVO</a:t>
            </a:r>
          </a:p>
        </p:txBody>
      </p:sp>
      <p:sp>
        <p:nvSpPr>
          <p:cNvPr id="8" name="Rectangle 7"/>
          <p:cNvSpPr/>
          <p:nvPr/>
        </p:nvSpPr>
        <p:spPr>
          <a:xfrm>
            <a:off x="468000" y="1044000"/>
            <a:ext cx="468000" cy="36000"/>
          </a:xfrm>
          <a:prstGeom prst="rect">
            <a:avLst/>
          </a:prstGeom>
          <a:solidFill>
            <a:srgbClr val="B08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9" name="Picture 8" descr="tablero_model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000" y="1296000"/>
            <a:ext cx="3888000" cy="2430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8000" y="1116000"/>
            <a:ext cx="3888000" cy="1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8C8C8C"/>
                </a:solidFill>
                <a:latin typeface="Calibri"/>
              </a:rPr>
              <a:t>captura de respaldo, por si el tablero no carga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8000" y="3960000"/>
            <a:ext cx="4104000" cy="756000"/>
          </a:xfrm>
          <a:prstGeom prst="rect">
            <a:avLst/>
          </a:prstGeom>
          <a:solidFill>
            <a:srgbClr val="405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000" y="4024800"/>
            <a:ext cx="3744000" cy="64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F2E3BE"/>
                </a:solidFill>
                <a:latin typeface="Calibri"/>
              </a:rPr>
              <a:t>En vivo (Modelos → Predicción):  </a:t>
            </a:r>
            <a:r>
              <a:rPr sz="1050" b="0">
                <a:solidFill>
                  <a:srgbClr val="FFFFFF"/>
                </a:solidFill>
                <a:latin typeface="Calibri"/>
              </a:rPr>
              <a:t>cargar una posición real, cambiar el plazo hábil al liberar y ver cómo se mueven el riesgo y sus contribuciones.</a:t>
            </a:r>
          </a:p>
        </p:txBody>
      </p:sp>
      <p:pic>
        <p:nvPicPr>
          <p:cNvPr id="13" name="Picture 12" descr="rangos_c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6000" y="972000"/>
            <a:ext cx="3744000" cy="237953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824000" y="3564000"/>
            <a:ext cx="3888000" cy="12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A1A1A"/>
                </a:solidFill>
                <a:latin typeface="Calibri"/>
              </a:rPr>
              <a:t>Friedman: χ² = 45,6, p &lt; 0,001: los 7 modelos no rinden igual.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1A1A1A"/>
                </a:solidFill>
                <a:latin typeface="Calibri"/>
              </a:rPr>
              <a:t>Nemenyi no separa a XGBoost de la logística ni del bosque (diferencia crítica 3,19); Wilcoxon por pares sí: gana los 8 bloques, p de Holm = 0,047.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1A1A1A"/>
                </a:solidFill>
                <a:latin typeface="Calibri"/>
              </a:rPr>
              <a:t>Dentro de cada bloque, DeLong con Holm: supera al bosque en 6 de 8 y a la logística en 7, sin perder en ninguno. Ventaja 0,009-0,012 de AUC, con BCa por órdenes lejos de cero.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8000" y="4842000"/>
            <a:ext cx="8243999" cy="14400"/>
          </a:xfrm>
          <a:prstGeom prst="rect">
            <a:avLst/>
          </a:prstGeom>
          <a:solidFill>
            <a:srgbClr val="DDD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8000" y="4896000"/>
            <a:ext cx="594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8C8C8C"/>
                </a:solidFill>
                <a:latin typeface="Calibri"/>
              </a:rPr>
              <a:t>Fuente: tablero, página Modelos; data/modelos/friedman.csv, wilcoxon.csv; resultados/pruebas/resumen.csv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8000" y="4896000"/>
            <a:ext cx="2304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8C8C8C"/>
                </a:solidFill>
                <a:latin typeface="Calibri"/>
              </a:rPr>
              <a:t>17 / 21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76000"/>
          </a:xfrm>
          <a:prstGeom prst="rect">
            <a:avLst/>
          </a:prstGeom>
          <a:solidFill>
            <a:srgbClr val="405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76000"/>
            <a:ext cx="9144000" cy="36000"/>
          </a:xfrm>
          <a:prstGeom prst="rect">
            <a:avLst/>
          </a:prstGeom>
          <a:solidFill>
            <a:srgbClr val="B08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4000" y="72000"/>
            <a:ext cx="468000" cy="43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160" y="145440"/>
            <a:ext cx="355680" cy="26641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92000" y="125999"/>
            <a:ext cx="8172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Sobreajuste bajo: 0,003 de AUC entre interno y externo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8000" y="756000"/>
            <a:ext cx="7308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B08A2D"/>
                </a:solidFill>
                <a:latin typeface="Calibri"/>
              </a:rPr>
              <a:t>CRITERIO 5  ·  ANÁLISIS DE ERRORES Y SOBREAJUSTE</a:t>
            </a:r>
          </a:p>
        </p:txBody>
      </p:sp>
      <p:sp>
        <p:nvSpPr>
          <p:cNvPr id="8" name="Rectangle 7"/>
          <p:cNvSpPr/>
          <p:nvPr/>
        </p:nvSpPr>
        <p:spPr>
          <a:xfrm>
            <a:off x="468000" y="1044000"/>
            <a:ext cx="468000" cy="36000"/>
          </a:xfrm>
          <a:prstGeom prst="rect">
            <a:avLst/>
          </a:prstGeom>
          <a:solidFill>
            <a:srgbClr val="B08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9" name="Picture 8" descr="interno_exter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00" y="1152000"/>
            <a:ext cx="3960000" cy="2188421"/>
          </a:xfrm>
          <a:prstGeom prst="rect">
            <a:avLst/>
          </a:prstGeom>
        </p:spPr>
      </p:pic>
      <p:pic>
        <p:nvPicPr>
          <p:cNvPr id="10" name="Picture 9" descr="aprendizaj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6000" y="1152000"/>
            <a:ext cx="2232000" cy="1584550"/>
          </a:xfrm>
          <a:prstGeom prst="rect">
            <a:avLst/>
          </a:prstGeom>
        </p:spPr>
      </p:pic>
      <p:pic>
        <p:nvPicPr>
          <p:cNvPr id="11" name="Picture 10" descr="calibrac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0000" y="1152000"/>
            <a:ext cx="1908000" cy="177155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68000" y="3348000"/>
            <a:ext cx="3960000" cy="57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A5A5A"/>
                </a:solidFill>
                <a:latin typeface="Calibri"/>
              </a:rPr>
              <a:t>El bloque 2025-S1 baja de 0,894 adentro a 0,846 afuera: es el semestre en que cambia la mezcla de 2025 (diapositiva 8), no un modelo que memoriza.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6000" y="3348000"/>
            <a:ext cx="4176000" cy="57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A5A5A"/>
                </a:solidFill>
                <a:latin typeface="Calibri"/>
              </a:rPr>
              <a:t>Logística (modelo base): 0,868 en entrenamiento y 0,830 en validación con todas las filas; bien calibrada en 2026 (ECE 0,021).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8000" y="3996000"/>
            <a:ext cx="8243999" cy="612000"/>
          </a:xfrm>
          <a:prstGeom prst="rect">
            <a:avLst/>
          </a:prstGeom>
          <a:solidFill>
            <a:srgbClr val="405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000" y="4060800"/>
            <a:ext cx="788399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F2E3BE"/>
                </a:solidFill>
                <a:latin typeface="Calibri"/>
              </a:rPr>
              <a:t>Errores de XGBoost en 2026:  </a:t>
            </a:r>
            <a:r>
              <a:rPr sz="1050" b="0">
                <a:solidFill>
                  <a:srgbClr val="FFFFFF"/>
                </a:solidFill>
                <a:latin typeface="Calibri"/>
              </a:rPr>
              <a:t>de 16.374 tardías marcó 11.341 (69 %), con 5.889 falsas alarmas. AUC 0,856 con todo conocido y 0,821 con alguna entidad nueva; ganadería, 0,712. El falso negativo típico tenía plazo amplio y un proveedor puntual: el retraso se decide en la ejecución.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8000" y="4842000"/>
            <a:ext cx="8243999" cy="14400"/>
          </a:xfrm>
          <a:prstGeom prst="rect">
            <a:avLst/>
          </a:prstGeom>
          <a:solidFill>
            <a:srgbClr val="DDD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8000" y="4896000"/>
            <a:ext cx="594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8C8C8C"/>
                </a:solidFill>
                <a:latin typeface="Calibri"/>
              </a:rPr>
              <a:t>Fuente: libro, capítulos 6 y 7: resultados/experimentos/por_bloque.csv, resultados/prueba_2026/segmentos.csv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8000" y="4896000"/>
            <a:ext cx="2304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8C8C8C"/>
                </a:solidFill>
                <a:latin typeface="Calibri"/>
              </a:rPr>
              <a:t>18 / 21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76000"/>
          </a:xfrm>
          <a:prstGeom prst="rect">
            <a:avLst/>
          </a:prstGeom>
          <a:solidFill>
            <a:srgbClr val="405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76000"/>
            <a:ext cx="9144000" cy="36000"/>
          </a:xfrm>
          <a:prstGeom prst="rect">
            <a:avLst/>
          </a:prstGeom>
          <a:solidFill>
            <a:srgbClr val="B08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4000" y="72000"/>
            <a:ext cx="468000" cy="43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160" y="145440"/>
            <a:ext cx="355680" cy="26641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92000" y="125999"/>
            <a:ext cx="8172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En otros datos, la propuesta gana donde hay historia por entidad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8000" y="756000"/>
            <a:ext cx="7308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B08A2D"/>
                </a:solidFill>
                <a:latin typeface="Calibri"/>
              </a:rPr>
              <a:t>CRITERIO 6  ·  VALIDACIÓN EN CONJUNTOS PÚBLICOS</a:t>
            </a:r>
          </a:p>
        </p:txBody>
      </p:sp>
      <p:sp>
        <p:nvSpPr>
          <p:cNvPr id="8" name="Rectangle 7"/>
          <p:cNvSpPr/>
          <p:nvPr/>
        </p:nvSpPr>
        <p:spPr>
          <a:xfrm>
            <a:off x="468000" y="1044000"/>
            <a:ext cx="468000" cy="36000"/>
          </a:xfrm>
          <a:prstGeom prst="rect">
            <a:avLst/>
          </a:prstGeom>
          <a:solidFill>
            <a:srgbClr val="B08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68000" y="1188000"/>
          <a:ext cx="5183997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2301"/>
                <a:gridCol w="639123"/>
                <a:gridCol w="568109"/>
                <a:gridCol w="1278246"/>
                <a:gridCol w="497095"/>
                <a:gridCol w="639123"/>
              </a:tblGrid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conjunto</a:t>
                      </a:r>
                    </a:p>
                  </a:txBody>
                  <a:tcPr marL="57600" marR="57600" marT="14400" marB="14400" anchor="ctr">
                    <a:solidFill>
                      <a:srgbClr val="4057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AUC XGBoost</a:t>
                      </a:r>
                    </a:p>
                  </a:txBody>
                  <a:tcPr marL="57600" marR="57600" marT="14400" marB="14400" anchor="ctr">
                    <a:solidFill>
                      <a:srgbClr val="4057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AUC K3</a:t>
                      </a:r>
                    </a:p>
                  </a:txBody>
                  <a:tcPr marL="57600" marR="57600" marT="14400" marB="14400" anchor="ctr">
                    <a:solidFill>
                      <a:srgbClr val="4057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Δ [IC 95 %]</a:t>
                      </a:r>
                    </a:p>
                  </a:txBody>
                  <a:tcPr marL="57600" marR="57600" marT="14400" marB="14400" anchor="ctr">
                    <a:solidFill>
                      <a:srgbClr val="4057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p Holm</a:t>
                      </a:r>
                    </a:p>
                  </a:txBody>
                  <a:tcPr marL="57600" marR="57600" marT="14400" marB="14400" anchor="ctr">
                    <a:solidFill>
                      <a:srgbClr val="4057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veredicto</a:t>
                      </a:r>
                    </a:p>
                  </a:txBody>
                  <a:tcPr marL="57600" marR="57600" marT="14400" marB="14400" anchor="ctr">
                    <a:solidFill>
                      <a:srgbClr val="405731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Calibri"/>
                        </a:rPr>
                        <a:t>Vuelos (Airlines)</a:t>
                      </a:r>
                    </a:p>
                  </a:txBody>
                  <a:tcPr marL="57600" marR="576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0,635</a:t>
                      </a:r>
                    </a:p>
                  </a:txBody>
                  <a:tcPr marL="57600" marR="576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0,634</a:t>
                      </a:r>
                    </a:p>
                  </a:txBody>
                  <a:tcPr marL="57600" marR="576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-0,002 [-0,006; 0,003]</a:t>
                      </a:r>
                    </a:p>
                  </a:txBody>
                  <a:tcPr marL="57600" marR="576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0,965</a:t>
                      </a:r>
                    </a:p>
                  </a:txBody>
                  <a:tcPr marL="57600" marR="576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empate</a:t>
                      </a:r>
                    </a:p>
                  </a:txBody>
                  <a:tcPr marL="57600" marR="57600" marT="14400" marB="144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Calibri"/>
                        </a:rPr>
                        <a:t>Acceso (Amazon)</a:t>
                      </a:r>
                    </a:p>
                  </a:txBody>
                  <a:tcPr marL="57600" marR="57600" marT="14400" marB="14400" anchor="ctr">
                    <a:solidFill>
                      <a:srgbClr val="EE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0,870</a:t>
                      </a:r>
                    </a:p>
                  </a:txBody>
                  <a:tcPr marL="57600" marR="57600" marT="14400" marB="14400" anchor="ctr">
                    <a:solidFill>
                      <a:srgbClr val="EE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0,856</a:t>
                      </a:r>
                    </a:p>
                  </a:txBody>
                  <a:tcPr marL="57600" marR="57600" marT="14400" marB="14400" anchor="ctr">
                    <a:solidFill>
                      <a:srgbClr val="EE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-0,013 [-0,022; -0,004]</a:t>
                      </a:r>
                    </a:p>
                  </a:txBody>
                  <a:tcPr marL="57600" marR="57600" marT="14400" marB="14400" anchor="ctr">
                    <a:solidFill>
                      <a:srgbClr val="EE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0,038</a:t>
                      </a:r>
                    </a:p>
                  </a:txBody>
                  <a:tcPr marL="57600" marR="57600" marT="14400" marB="14400" anchor="ctr">
                    <a:solidFill>
                      <a:srgbClr val="EE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K3 pierde</a:t>
                      </a:r>
                    </a:p>
                  </a:txBody>
                  <a:tcPr marL="57600" marR="57600" marT="14400" marB="14400" anchor="ctr">
                    <a:solidFill>
                      <a:srgbClr val="EEF2E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Calibri"/>
                        </a:rPr>
                        <a:t>Publicidad (Click)</a:t>
                      </a:r>
                    </a:p>
                  </a:txBody>
                  <a:tcPr marL="57600" marR="576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0,707</a:t>
                      </a:r>
                    </a:p>
                  </a:txBody>
                  <a:tcPr marL="57600" marR="576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0,699</a:t>
                      </a:r>
                    </a:p>
                  </a:txBody>
                  <a:tcPr marL="57600" marR="576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-0,008 [-0,014; -0,002]</a:t>
                      </a:r>
                    </a:p>
                  </a:txBody>
                  <a:tcPr marL="57600" marR="576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0,043</a:t>
                      </a:r>
                    </a:p>
                  </a:txBody>
                  <a:tcPr marL="57600" marR="576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K3 pierde</a:t>
                      </a:r>
                    </a:p>
                  </a:txBody>
                  <a:tcPr marL="57600" marR="57600" marT="14400" marB="144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Calibri"/>
                        </a:rPr>
                        <a:t>Buses de Nueva York</a:t>
                      </a:r>
                    </a:p>
                  </a:txBody>
                  <a:tcPr marL="57600" marR="57600" marT="14400" marB="14400" anchor="ctr">
                    <a:solidFill>
                      <a:srgbClr val="EE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0,846</a:t>
                      </a:r>
                    </a:p>
                  </a:txBody>
                  <a:tcPr marL="57600" marR="57600" marT="14400" marB="14400" anchor="ctr">
                    <a:solidFill>
                      <a:srgbClr val="EE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0,844</a:t>
                      </a:r>
                    </a:p>
                  </a:txBody>
                  <a:tcPr marL="57600" marR="57600" marT="14400" marB="14400" anchor="ctr">
                    <a:solidFill>
                      <a:srgbClr val="EE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-0,002 [-0,004; 0,001]</a:t>
                      </a:r>
                    </a:p>
                  </a:txBody>
                  <a:tcPr marL="57600" marR="57600" marT="14400" marB="14400" anchor="ctr">
                    <a:solidFill>
                      <a:srgbClr val="EE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0,632</a:t>
                      </a:r>
                    </a:p>
                  </a:txBody>
                  <a:tcPr marL="57600" marR="57600" marT="14400" marB="14400" anchor="ctr">
                    <a:solidFill>
                      <a:srgbClr val="EE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empate</a:t>
                      </a:r>
                    </a:p>
                  </a:txBody>
                  <a:tcPr marL="57600" marR="57600" marT="14400" marB="14400" anchor="ctr">
                    <a:solidFill>
                      <a:srgbClr val="EEF2E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Calibri"/>
                        </a:rPr>
                        <a:t>Transporte de Zúrich</a:t>
                      </a:r>
                    </a:p>
                  </a:txBody>
                  <a:tcPr marL="57600" marR="576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0,832</a:t>
                      </a:r>
                    </a:p>
                  </a:txBody>
                  <a:tcPr marL="57600" marR="576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0,833</a:t>
                      </a:r>
                    </a:p>
                  </a:txBody>
                  <a:tcPr marL="57600" marR="576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0,001 [-0,008; 0,008]</a:t>
                      </a:r>
                    </a:p>
                  </a:txBody>
                  <a:tcPr marL="57600" marR="576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0,965</a:t>
                      </a:r>
                    </a:p>
                  </a:txBody>
                  <a:tcPr marL="57600" marR="576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empate</a:t>
                      </a:r>
                    </a:p>
                  </a:txBody>
                  <a:tcPr marL="57600" marR="57600" marT="14400" marB="144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Calibri"/>
                        </a:rPr>
                        <a:t>Reingreso (Diabetes130US)</a:t>
                      </a:r>
                    </a:p>
                  </a:txBody>
                  <a:tcPr marL="57600" marR="57600" marT="14400" marB="14400" anchor="ctr">
                    <a:solidFill>
                      <a:srgbClr val="EE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0,659</a:t>
                      </a:r>
                    </a:p>
                  </a:txBody>
                  <a:tcPr marL="57600" marR="57600" marT="14400" marB="14400" anchor="ctr">
                    <a:solidFill>
                      <a:srgbClr val="EE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0,675</a:t>
                      </a:r>
                    </a:p>
                  </a:txBody>
                  <a:tcPr marL="57600" marR="57600" marT="14400" marB="14400" anchor="ctr">
                    <a:solidFill>
                      <a:srgbClr val="EE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0,016 [0,008; 0,024]</a:t>
                      </a:r>
                    </a:p>
                  </a:txBody>
                  <a:tcPr marL="57600" marR="57600" marT="14400" marB="14400" anchor="ctr">
                    <a:solidFill>
                      <a:srgbClr val="EE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0,001</a:t>
                      </a:r>
                    </a:p>
                  </a:txBody>
                  <a:tcPr marL="57600" marR="57600" marT="14400" marB="14400" anchor="ctr">
                    <a:solidFill>
                      <a:srgbClr val="EE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K3 gana</a:t>
                      </a:r>
                    </a:p>
                  </a:txBody>
                  <a:tcPr marL="57600" marR="57600" marT="14400" marB="14400" anchor="ctr">
                    <a:solidFill>
                      <a:srgbClr val="EEF2E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Calibri"/>
                        </a:rPr>
                        <a:t>Citas no asistidas</a:t>
                      </a:r>
                    </a:p>
                  </a:txBody>
                  <a:tcPr marL="57600" marR="576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0,732</a:t>
                      </a:r>
                    </a:p>
                  </a:txBody>
                  <a:tcPr marL="57600" marR="576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0,737</a:t>
                      </a:r>
                    </a:p>
                  </a:txBody>
                  <a:tcPr marL="57600" marR="576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0,005 [0,003; 0,008]</a:t>
                      </a:r>
                    </a:p>
                  </a:txBody>
                  <a:tcPr marL="57600" marR="576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&lt; 0,001</a:t>
                      </a:r>
                    </a:p>
                  </a:txBody>
                  <a:tcPr marL="57600" marR="576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</a:rPr>
                        <a:t>K3 gana</a:t>
                      </a:r>
                    </a:p>
                  </a:txBody>
                  <a:tcPr marL="57600" marR="57600" marT="14400" marB="14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68000" y="3851999"/>
            <a:ext cx="5184000" cy="86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Calibri"/>
              </a:rPr>
              <a:t>Mismo protocolo para los dos: Optuna con 20 evaluaciones en validación, una medida en la prueba, DeLong pareado con Holm sobre los siete. La segunda ronda (filas 4 a 7) se eligió con un criterio fijado antes de correr. El plazo log-normal y las variables nuevas no aplican fuera de OTIF.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68000" y="1188000"/>
            <a:ext cx="2844000" cy="2304000"/>
          </a:xfrm>
          <a:prstGeom prst="rect">
            <a:avLst/>
          </a:prstGeom>
          <a:solidFill>
            <a:srgbClr val="E8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0000" y="1295999"/>
            <a:ext cx="252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405731"/>
                </a:solidFill>
                <a:latin typeface="Calibri"/>
              </a:rPr>
              <a:t>Lectura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0000" y="1555200"/>
            <a:ext cx="2520000" cy="18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Gana 2, empata 3, pierde 2; Wilcoxon p = 0,81: no hay superioridad general.</a:t>
            </a:r>
          </a:p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Gana donde la entidad vuelve (el paciente), como el proveedor en OTIF.</a:t>
            </a:r>
          </a:p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Empata en transporte; pierde sin tiempo ni desenlace continuo.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68000" y="3600000"/>
            <a:ext cx="2844000" cy="1116000"/>
          </a:xfrm>
          <a:prstGeom prst="rect">
            <a:avLst/>
          </a:prstGeom>
          <a:solidFill>
            <a:srgbClr val="405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48000" y="3664800"/>
            <a:ext cx="2484000" cy="10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F2E3BE"/>
                </a:solidFill>
                <a:latin typeface="Calibri"/>
              </a:rPr>
              <a:t>Cuidado:  </a:t>
            </a:r>
            <a:r>
              <a:rPr sz="1050" b="0">
                <a:solidFill>
                  <a:srgbClr val="FFFFFF"/>
                </a:solidFill>
                <a:latin typeface="Calibri"/>
              </a:rPr>
              <a:t>esa separación se vio después de la segunda ronda; confirmarla pide una tercera fijada antes de correr.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8000" y="4842000"/>
            <a:ext cx="8243999" cy="14400"/>
          </a:xfrm>
          <a:prstGeom prst="rect">
            <a:avLst/>
          </a:prstGeom>
          <a:solidFill>
            <a:srgbClr val="DDD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8000" y="4896000"/>
            <a:ext cx="594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8C8C8C"/>
                </a:solidFill>
                <a:latin typeface="Calibri"/>
              </a:rPr>
              <a:t>Fuente: libro, capítulo 10: original/publicos_otif_resumen.csv (OpenML); tablero: Modelos → Modelo original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8000" y="4896000"/>
            <a:ext cx="2304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8C8C8C"/>
                </a:solidFill>
                <a:latin typeface="Calibri"/>
              </a:rPr>
              <a:t>19 / 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76000"/>
          </a:xfrm>
          <a:prstGeom prst="rect">
            <a:avLst/>
          </a:prstGeom>
          <a:solidFill>
            <a:srgbClr val="405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76000"/>
            <a:ext cx="9144000" cy="36000"/>
          </a:xfrm>
          <a:prstGeom prst="rect">
            <a:avLst/>
          </a:prstGeom>
          <a:solidFill>
            <a:srgbClr val="B08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4000" y="72000"/>
            <a:ext cx="468000" cy="43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160" y="145440"/>
            <a:ext cx="355680" cy="26641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92000" y="125999"/>
            <a:ext cx="8172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El retraso se puede anticipar el día de la liberación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8000" y="756000"/>
            <a:ext cx="7308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B08A2D"/>
                </a:solidFill>
                <a:latin typeface="Calibri"/>
              </a:rPr>
              <a:t>CRITERIO 6  ·  CONCLUSIONES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68000" y="1044000"/>
            <a:ext cx="468000" cy="36000"/>
          </a:xfrm>
          <a:prstGeom prst="rect">
            <a:avLst/>
          </a:prstGeom>
          <a:solidFill>
            <a:srgbClr val="B08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8000" y="1281600"/>
            <a:ext cx="72000" cy="72000"/>
          </a:xfrm>
          <a:prstGeom prst="rect">
            <a:avLst/>
          </a:prstGeom>
          <a:solidFill>
            <a:srgbClr val="405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4000" y="1224000"/>
            <a:ext cx="4608000" cy="64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A1A1A"/>
                </a:solidFill>
                <a:latin typeface="Calibri"/>
              </a:rPr>
              <a:t>Se puede ordenar por riesgo al liberar: AUC 0,852 medido hacia adelante en el tiempo, contra 0,670 de la regla del proveedor en 2026.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8000" y="1965600"/>
            <a:ext cx="72000" cy="72000"/>
          </a:xfrm>
          <a:prstGeom prst="rect">
            <a:avLst/>
          </a:prstGeom>
          <a:solidFill>
            <a:srgbClr val="405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4000" y="1908000"/>
            <a:ext cx="4608000" cy="64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A1A1A"/>
                </a:solidFill>
                <a:latin typeface="Calibri"/>
              </a:rPr>
              <a:t>La señal está en el plazo, el historial del proveedor y las entidades; ninguna variable sola basta.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8000" y="2649600"/>
            <a:ext cx="72000" cy="72000"/>
          </a:xfrm>
          <a:prstGeom prst="rect">
            <a:avLst/>
          </a:prstGeom>
          <a:solidFill>
            <a:srgbClr val="405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4000" y="2591999"/>
            <a:ext cx="4608000" cy="64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A1A1A"/>
                </a:solidFill>
                <a:latin typeface="Calibri"/>
              </a:rPr>
              <a:t>XGBoost gana de forma significativa y material: en 2026, AUC 0,848 contra 0,825 de la logística, y más tardías atrapadas con las mismas alertas.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8000" y="3333600"/>
            <a:ext cx="72000" cy="72000"/>
          </a:xfrm>
          <a:prstGeom prst="rect">
            <a:avLst/>
          </a:prstGeom>
          <a:solidFill>
            <a:srgbClr val="405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4000" y="3276000"/>
            <a:ext cx="4608000" cy="64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A1A1A"/>
                </a:solidFill>
                <a:latin typeface="Calibri"/>
              </a:rPr>
              <a:t>El optimizador importa con poco presupuesto; el balanceo casi no mueve el AUC.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8000" y="4017600"/>
            <a:ext cx="72000" cy="72000"/>
          </a:xfrm>
          <a:prstGeom prst="rect">
            <a:avLst/>
          </a:prstGeom>
          <a:solidFill>
            <a:srgbClr val="405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4000" y="3960000"/>
            <a:ext cx="4608000" cy="64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A1A1A"/>
                </a:solidFill>
                <a:latin typeface="Calibri"/>
              </a:rPr>
              <a:t>La partición cronológica no es un detalle: al azar, el problema parecería más fácil de lo que es.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5544000" y="1224000"/>
          <a:ext cx="3168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2400"/>
                <a:gridCol w="1425600"/>
              </a:tblGrid>
              <a:tr h="3456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objetivo</a:t>
                      </a:r>
                    </a:p>
                  </a:txBody>
                  <a:tcPr marL="57600" marR="57600" marT="14400" marB="14400" anchor="ctr">
                    <a:solidFill>
                      <a:srgbClr val="4057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cumplido</a:t>
                      </a:r>
                    </a:p>
                  </a:txBody>
                  <a:tcPr marL="57600" marR="57600" marT="14400" marB="14400" anchor="ctr">
                    <a:solidFill>
                      <a:srgbClr val="405731"/>
                    </a:solidFill>
                  </a:tcPr>
                </a:tc>
              </a:tr>
              <a:tr h="3456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Calibri"/>
                        </a:rPr>
                        <a:t>comparar las 112 con el mismo presupuesto</a:t>
                      </a:r>
                    </a:p>
                  </a:txBody>
                  <a:tcPr marL="57600" marR="576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sí</a:t>
                      </a:r>
                    </a:p>
                  </a:txBody>
                  <a:tcPr marL="57600" marR="57600" marT="14400" marB="14400" anchor="ctr">
                    <a:solidFill>
                      <a:srgbClr val="FFFFFF"/>
                    </a:solidFill>
                  </a:tcPr>
                </a:tc>
              </a:tr>
              <a:tr h="3456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Calibri"/>
                        </a:rPr>
                        <a:t>costo de las entidades nuevas</a:t>
                      </a:r>
                    </a:p>
                  </a:txBody>
                  <a:tcPr marL="57600" marR="57600" marT="14400" marB="14400" anchor="ctr">
                    <a:solidFill>
                      <a:srgbClr val="EE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AUC 0,82 contra 0,86</a:t>
                      </a:r>
                    </a:p>
                  </a:txBody>
                  <a:tcPr marL="57600" marR="57600" marT="14400" marB="14400" anchor="ctr">
                    <a:solidFill>
                      <a:srgbClr val="EEF2EA"/>
                    </a:solidFill>
                  </a:tcPr>
                </a:tc>
              </a:tr>
              <a:tr h="3456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Calibri"/>
                        </a:rPr>
                        <a:t>modelo servido en el tablero</a:t>
                      </a:r>
                    </a:p>
                  </a:txBody>
                  <a:tcPr marL="57600" marR="576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sí, XGBoost</a:t>
                      </a:r>
                    </a:p>
                  </a:txBody>
                  <a:tcPr marL="57600" marR="57600" marT="14400" marB="14400" anchor="ctr">
                    <a:solidFill>
                      <a:srgbClr val="FFFFFF"/>
                    </a:solidFill>
                  </a:tcPr>
                </a:tc>
              </a:tr>
              <a:tr h="3456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Calibri"/>
                        </a:rPr>
                        <a:t>modelo original contra el óptimo</a:t>
                      </a:r>
                    </a:p>
                  </a:txBody>
                  <a:tcPr marL="57600" marR="57600" marT="14400" marB="14400" anchor="ctr">
                    <a:solidFill>
                      <a:srgbClr val="EE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+0,012 de AUC [0,004; 0,018]</a:t>
                      </a:r>
                    </a:p>
                  </a:txBody>
                  <a:tcPr marL="57600" marR="57600" marT="14400" marB="14400" anchor="ctr">
                    <a:solidFill>
                      <a:srgbClr val="EEF2EA"/>
                    </a:solidFill>
                  </a:tcPr>
                </a:tc>
              </a:tr>
            </a:tbl>
          </a:graphicData>
        </a:graphic>
      </p:graphicFrame>
      <p:sp>
        <p:nvSpPr>
          <p:cNvPr id="20" name="Rectangle 19"/>
          <p:cNvSpPr/>
          <p:nvPr/>
        </p:nvSpPr>
        <p:spPr>
          <a:xfrm>
            <a:off x="5544000" y="3096000"/>
            <a:ext cx="3168000" cy="1620000"/>
          </a:xfrm>
          <a:prstGeom prst="rect">
            <a:avLst/>
          </a:prstGeom>
          <a:solidFill>
            <a:srgbClr val="405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24000" y="3160800"/>
            <a:ext cx="2808000" cy="151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F2E3BE"/>
                </a:solidFill>
                <a:latin typeface="Calibri"/>
              </a:rPr>
              <a:t>Para el negocio:  </a:t>
            </a:r>
            <a:r>
              <a:rPr sz="1150" b="0">
                <a:solidFill>
                  <a:srgbClr val="FFFFFF"/>
                </a:solidFill>
                <a:latin typeface="Calibri"/>
              </a:rPr>
              <a:t>marcando el 33 % de las posiciones, XGBoost ve venir el 69 % de las tardías de 2026. El comprador puede concentrar el seguimiento en un tercio de las órdenes.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8000" y="4842000"/>
            <a:ext cx="8243999" cy="14400"/>
          </a:xfrm>
          <a:prstGeom prst="rect">
            <a:avLst/>
          </a:prstGeom>
          <a:solidFill>
            <a:srgbClr val="DDD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8000" y="4896000"/>
            <a:ext cx="594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8C8C8C"/>
                </a:solidFill>
                <a:latin typeface="Calibri"/>
              </a:rPr>
              <a:t>Fuente: libro, capítulos 2 a 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8000" y="4896000"/>
            <a:ext cx="2304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8C8C8C"/>
                </a:solidFill>
                <a:latin typeface="Calibri"/>
              </a:rPr>
              <a:t>20 / 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76000"/>
          </a:xfrm>
          <a:prstGeom prst="rect">
            <a:avLst/>
          </a:prstGeom>
          <a:solidFill>
            <a:srgbClr val="405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76000"/>
            <a:ext cx="9144000" cy="36000"/>
          </a:xfrm>
          <a:prstGeom prst="rect">
            <a:avLst/>
          </a:prstGeom>
          <a:solidFill>
            <a:srgbClr val="B08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4000" y="72000"/>
            <a:ext cx="468000" cy="43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160" y="145440"/>
            <a:ext cx="355680" cy="26641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92000" y="125999"/>
            <a:ext cx="8172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Límites: deriva, etiqueta que madura y una sola empresa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8000" y="756000"/>
            <a:ext cx="7308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B08A2D"/>
                </a:solidFill>
                <a:latin typeface="Calibri"/>
              </a:rPr>
              <a:t>CRITERIO 6  ·  LIMITACIONES Y MEJORAS</a:t>
            </a:r>
          </a:p>
        </p:txBody>
      </p:sp>
      <p:sp>
        <p:nvSpPr>
          <p:cNvPr id="8" name="Rectangle 7"/>
          <p:cNvSpPr/>
          <p:nvPr/>
        </p:nvSpPr>
        <p:spPr>
          <a:xfrm>
            <a:off x="468000" y="1044000"/>
            <a:ext cx="468000" cy="36000"/>
          </a:xfrm>
          <a:prstGeom prst="rect">
            <a:avLst/>
          </a:prstGeom>
          <a:solidFill>
            <a:srgbClr val="B08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8000" y="1188000"/>
            <a:ext cx="2664000" cy="3528000"/>
          </a:xfrm>
          <a:prstGeom prst="rect">
            <a:avLst/>
          </a:prstGeom>
          <a:solidFill>
            <a:srgbClr val="E8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000" y="1295999"/>
            <a:ext cx="234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405731"/>
                </a:solidFill>
                <a:latin typeface="Calibri"/>
              </a:rPr>
              <a:t>Teóricas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000" y="1555200"/>
            <a:ext cx="2340000" cy="311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Calibri"/>
              </a:rPr>
              <a:t>Independencia dado x: las posiciones de una orden se parecen; se protege agrupando, no se modela.</a:t>
            </a:r>
          </a:p>
          <a:p>
            <a:pPr algn="l"/>
            <a:r>
              <a:rPr sz="1050" b="0">
                <a:solidFill>
                  <a:srgbClr val="1A1A1A"/>
                </a:solidFill>
                <a:latin typeface="Calibri"/>
              </a:rPr>
              <a:t>Estabilidad: el modelo supone que la relación de 2021-2025 vale en 2026.</a:t>
            </a:r>
          </a:p>
          <a:p>
            <a:pPr algn="l"/>
            <a:r>
              <a:rPr sz="1050" b="0">
                <a:solidFill>
                  <a:srgbClr val="1A1A1A"/>
                </a:solidFill>
                <a:latin typeface="Calibri"/>
              </a:rPr>
              <a:t>Una sola etiqueta binaria desperdicia los días de retraso.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0000" y="1188000"/>
            <a:ext cx="2664000" cy="3528000"/>
          </a:xfrm>
          <a:prstGeom prst="rect">
            <a:avLst/>
          </a:prstGeom>
          <a:solidFill>
            <a:srgbClr val="F5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01999" y="1295999"/>
            <a:ext cx="234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405731"/>
                </a:solidFill>
                <a:latin typeface="Calibri"/>
              </a:rPr>
              <a:t>Empíricas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01999" y="1555200"/>
            <a:ext cx="2340000" cy="311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Calibri"/>
              </a:rPr>
              <a:t>Deriva: 2025 se distingue de 2021-2024 casi por completo.</a:t>
            </a:r>
          </a:p>
          <a:p>
            <a:pPr algn="l"/>
            <a:r>
              <a:rPr sz="1050" b="0">
                <a:solidFill>
                  <a:srgbClr val="1A1A1A"/>
                </a:solidFill>
                <a:latin typeface="Calibri"/>
              </a:rPr>
              <a:t>La etiqueta de lo más reciente madura tarde (censura al final del periodo).</a:t>
            </a:r>
          </a:p>
          <a:p>
            <a:pPr algn="l"/>
            <a:r>
              <a:rPr sz="1050" b="0">
                <a:solidFill>
                  <a:srgbClr val="1A1A1A"/>
                </a:solidFill>
                <a:latin typeface="Calibri"/>
              </a:rPr>
              <a:t>Maestros en foto actual, no con su vigencia histórica.</a:t>
            </a:r>
          </a:p>
          <a:p>
            <a:pPr algn="l"/>
            <a:r>
              <a:rPr sz="1050" b="0">
                <a:solidFill>
                  <a:srgbClr val="1A1A1A"/>
                </a:solidFill>
                <a:latin typeface="Calibri"/>
              </a:rPr>
              <a:t>Arranque en frío: 11,1 % de proveedores nuevos en 2026.</a:t>
            </a:r>
          </a:p>
          <a:p>
            <a:pPr algn="l"/>
            <a:r>
              <a:rPr sz="1050" b="0">
                <a:solidFill>
                  <a:srgbClr val="1A1A1A"/>
                </a:solidFill>
                <a:latin typeface="Calibri"/>
              </a:rPr>
              <a:t>Una sola empresa: la generalización a otros grupos no está probada.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12000" y="1188000"/>
            <a:ext cx="2700000" cy="3528000"/>
          </a:xfrm>
          <a:prstGeom prst="rect">
            <a:avLst/>
          </a:prstGeom>
          <a:solidFill>
            <a:srgbClr val="EE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3999" y="1295999"/>
            <a:ext cx="2376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405731"/>
                </a:solidFill>
                <a:latin typeface="Calibri"/>
              </a:rPr>
              <a:t>Mejoras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3999" y="1555200"/>
            <a:ext cx="2376000" cy="311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Calibri"/>
              </a:rPr>
              <a:t>Reentrenar por semestre y vigilar la deriva con la validación adversaria.</a:t>
            </a:r>
          </a:p>
          <a:p>
            <a:pPr algn="l"/>
            <a:r>
              <a:rPr sz="1050" b="0">
                <a:solidFill>
                  <a:srgbClr val="1A1A1A"/>
                </a:solidFill>
                <a:latin typeface="Calibri"/>
              </a:rPr>
              <a:t>Efectos aleatorios por proveedor y material para el arranque en frío.</a:t>
            </a:r>
          </a:p>
          <a:p>
            <a:pPr algn="l"/>
            <a:r>
              <a:rPr sz="1050" b="0">
                <a:solidFill>
                  <a:srgbClr val="1A1A1A"/>
                </a:solidFill>
                <a:latin typeface="Calibri"/>
              </a:rPr>
              <a:t>Usar los días de retraso con cortes ordenados (el modelo original del Entregable 3).</a:t>
            </a:r>
          </a:p>
          <a:p>
            <a:pPr algn="l"/>
            <a:r>
              <a:rPr sz="1050" b="0">
                <a:solidFill>
                  <a:srgbClr val="1A1A1A"/>
                </a:solidFill>
                <a:latin typeface="Calibri"/>
              </a:rPr>
              <a:t>Maestros con vigencia por fecha.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8000" y="4842000"/>
            <a:ext cx="8243999" cy="14400"/>
          </a:xfrm>
          <a:prstGeom prst="rect">
            <a:avLst/>
          </a:prstGeom>
          <a:solidFill>
            <a:srgbClr val="DDD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8000" y="4896000"/>
            <a:ext cx="594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8C8C8C"/>
                </a:solidFill>
                <a:latin typeface="Calibri"/>
              </a:rPr>
              <a:t>Fuente: libro, capítulos 4, 6 y 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8000" y="4896000"/>
            <a:ext cx="2304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8C8C8C"/>
                </a:solidFill>
                <a:latin typeface="Calibri"/>
              </a:rPr>
              <a:t>21 /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057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68000" y="503999"/>
            <a:ext cx="1404000" cy="10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480" y="687600"/>
            <a:ext cx="1067040" cy="799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68000" y="2015999"/>
            <a:ext cx="7920000" cy="57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Preguntas</a:t>
            </a:r>
          </a:p>
        </p:txBody>
      </p:sp>
      <p:sp>
        <p:nvSpPr>
          <p:cNvPr id="5" name="Rectangle 4"/>
          <p:cNvSpPr/>
          <p:nvPr/>
        </p:nvSpPr>
        <p:spPr>
          <a:xfrm>
            <a:off x="468000" y="2664000"/>
            <a:ext cx="827999" cy="36000"/>
          </a:xfrm>
          <a:prstGeom prst="rect">
            <a:avLst/>
          </a:prstGeom>
          <a:solidFill>
            <a:srgbClr val="B08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8000" y="2880000"/>
            <a:ext cx="7920000" cy="10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D9E2D2"/>
                </a:solidFill>
                <a:latin typeface="Calibri"/>
              </a:rPr>
              <a:t>Repositorio   github.com/ddcarbono/otif-compras-ml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D9E2D2"/>
                </a:solidFill>
                <a:latin typeface="Calibri"/>
              </a:rPr>
              <a:t>Libro            ddcarbono.github.io/otif-compras-ml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D9E2D2"/>
                </a:solidFill>
                <a:latin typeface="Calibri"/>
              </a:rPr>
              <a:t>Tablero         otif-compras-ml.onrender.com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8000" y="4392000"/>
            <a:ext cx="792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2E3BE"/>
                </a:solidFill>
                <a:latin typeface="Calibri"/>
              </a:rPr>
              <a:t>Responden los dos autores (criterio 7: dominio individual).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