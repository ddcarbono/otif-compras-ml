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9144000" cy="5144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 · criterio 1 · expone A] Presentarse los dos y dejar las tres direcciones en pantalla. Render ya abierto desde antes: el plan gratuito se duerme.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1 · expone A] El problema en una frase y su magnitud. La tercera cifra es del modelo base en 2026 y ya está en el libro: marcando poco más de un tercio, se ven venir siete de cada diez tardías.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1 · expone A] x, y, el modelo Bernoulli, la log-pérdida como menos log-verosimilitud y el umbral. Insistir: τ sale de 2025 y 2026 no elige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2 · expone A] Pantalla en vivo. Si el tablero no carga, la captura queda en la diapositiva. Mostrar el filtro por línea: industrial y palma llegan tarde más que banano y ganadería.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2 · expone A] Fuente y estructura. La unidad independiente es la orden: por eso los pliegues se agrupan por orden. La partición es cronológica.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criterio 2 · expone A] Distribuciones: colas largas, transformación justificada. Faltantes: el mecanismo es estructural, no aleatorio. Atípicos: tienen más retraso, se quedan.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criterio 2 · expone A] Relaciones: la señal está repartida. Fuga: lo que se retiró y por qué, y la codificación por objetivo fuera de pliegue, que es la fuga más fácil de cometer aquí.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criterio 2 · expone A] Tres pruebas de que el tiempo importa: la serie no es estacionaria, hay entidades nuevas y la validación adversaria reconoce el año aun sin las variables de reloj.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Qué es el modelo, qué pérdida minimiza y por qué esa pérdida (Bernoulli). Principio: gradiente en el espacio de funciones. Contraste con el bosque: sesgo contra varianza.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Derivar en voz alta: σ′ = σ(1 − σ); dℓ/dF = σ − y; d²ℓ/dF² = σ(1 − σ). γ cobra por hoja y λ encoge los pesos. Es la derivación que más preguntan.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w* = −G/(H + λ) sale de derivar la parábola e igualar a cero. La ganancia compara la pérdida óptima de las dos hojas hijas con la de la madre; γ es el costo de una hoja más.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Cada hiperparámetro y dónde vive en la fórmula. Complejidad: teoría y medición coinciden; el exponente 0,91 en log-log es casi lineal. Supuesto clave: independencia dado x, que la agrupación por orden protege.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4 · expone B] Validación anidada: el externo mide, el interno elige. Mismo presupuesto para comparar optimizadores de forma justa. La prueba 2026 se mira una vez, al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4 · expone B] Por qué ese espacio: rangos usuales de la literatura, escala logarítmica donde el efecto es multiplicativo (tasa, peso mínimo). Decisiones computacionales: matrices preprocesadas en disco, SMOTE calculado una vez por ventana.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4 · expone A] Optuna (TPE) aprende de los ensayos y propone donde la mejora esperada es mayor; DEAP llega tarde pero llega. Con poco presupuesto conviene Optuna; con 20 la superficie es plana.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5 · expone B] Por qué cada métrica. En los bloques la ganancia es de una centésima frente al bosque y la logística. En 2026, medido una vez con lo congelado en 2025, XGBoost da 0,848 y le saca 0,023 a la logística. La brecha no muestra caída de la validación a la prueba.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5 · expone A] En vivo: la predicción la sirve XGBoost con Platt, con sus contribuciones SHAP exactas. Pruebas: Friedman rechaza la igualdad; Nemenyi es conservador con 8 bloques; el Wilcoxon pareado con Holm separa porque XGBoost gana en cada bloque. DeLong mira dentro de cada bloque (validado contra pROC); como supone filas independientes, se lee con el BCa que remuestrea órdenes. Cliff con el bosque: pequeño (0,25).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5 · expone B] Sobreajuste en dos vistas: interno contra externo por bloque y la curva de aprendizaje. En 2026, el error se concentra en las órdenes con entidades nuevas y en ganadería; el falso negativo típico no se podía ver al liberar.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5 · expone A] Cinco razones con cifras. Si el negocio pusiera explicar cada coeficiente por encima de atrapar tardías, la logística sería defendible: pierde 0,023 de AUC y unas 35 tardías por mes. Precisión: las tardías de más caen en órdenes que ya tenían otra alerta.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6 · expone A] Responder la pregunta con cifras y el veredicto de cada objetivo. La propuesta del Entregable 3 le gana a XGBoost por 0,012 en 2026; se presenta aparte.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6 · expone B] Separar lo teórico (supuestos del modelo) de lo empírico (los datos). Las mejoras apuntan al modelo original.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[2:00 · criterio 7 · expone A y B] Preparar: derivar g, h y w*; por qué la codificación va fuera de pliegue; por qué la prueba no elige nada; por qué Nemenyi y Wilcoxon dicen cosas distintas; qué pasa con un proveedor nuevo.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68000" cy="51444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8000" y="503999"/>
            <a:ext cx="1404000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80" y="687600"/>
            <a:ext cx="1067040" cy="7992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8000" y="1872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UNIVERSIDAD DEL NORTE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2160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9E2D2"/>
                </a:solidFill>
                <a:latin typeface="Calibri"/>
              </a:rPr>
              <a:t>Maestría en Estadística Aplicada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9E2D2"/>
                </a:solidFill>
                <a:latin typeface="Calibri"/>
              </a:rPr>
              <a:t>Machine Learning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68000" y="3816000"/>
            <a:ext cx="64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000" y="399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Daniel Carbonó Domínguez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Luis Pérez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4536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D9E2D2"/>
                </a:solidFill>
                <a:latin typeface="Calibri"/>
              </a:rPr>
              <a:t>Octubre de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0" y="936000"/>
            <a:ext cx="48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CLASIFICACIÓN BINARIA SUPERVISADA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0" y="1332000"/>
            <a:ext cx="5184000" cy="15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Predicción del incumplimiento de órdenes de compra en la agroindustria de la palma de aceite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0" y="2916000"/>
            <a:ext cx="827999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0000" y="3096000"/>
            <a:ext cx="50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Calibri"/>
              </a:rPr>
              <a:t>406.126 posiciones de 104.614 órdenes de compra, 2021-2026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0" y="3744000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Repositorio   github.com/ddcarbono/otif-compras-ml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Libro            ddcarbono.github.io/otif-compras-ml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Tablero         otif-compras-ml.onrender.com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Uno de cada tres pedidos llega tarde, y se sabe cuando ya pasó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1  ·  EL PROBLEMA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224000"/>
            <a:ext cx="1944000" cy="97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8000" y="122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35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33,0 %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185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de las posiciones llega tarde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2304000"/>
            <a:ext cx="1944000" cy="972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8000" y="230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000" y="243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41 %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293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en industrial; 25 % en ganaderia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3384000"/>
            <a:ext cx="1944000" cy="972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8000" y="338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351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71 %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000" y="401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de las tardías de 2026, marcando el 38 %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36000" y="1188000"/>
            <a:ext cx="3311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Por qué importa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6000" y="1440000"/>
            <a:ext cx="3311999" cy="12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El comprador hoy se entera del retraso cuando la mercancía no llega. Con miles de posiciones abiertas, no puede seguirlas todas: necesita saber, el día en que libera la orden, cuáles vigilar.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6000" y="2628000"/>
            <a:ext cx="3311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Qué dice la literatura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36000" y="2880000"/>
            <a:ext cx="3311999" cy="1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En fabricantes de maquinaria y equipos llega tarde del 13 % al 14 % de los pedidos (Brintrup y otros, 2020; Steinberg y otros, 2023): aquí es más del doble.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5A5A5A"/>
                </a:solidFill>
                <a:latin typeface="Calibri"/>
              </a:rPr>
              <a:t>Una revisión de 26 estudios encuentra que 16 parten las filas al azar; reevaluado sin fuga y en el tiempo, un AUC de 0,96 baja a 0,73 (Raval, 2026). Este trabajo evalúa siempre hacia adelante.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999" y="1224000"/>
            <a:ext cx="2448000" cy="3491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5999" y="1332000"/>
            <a:ext cx="212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Objetivos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5999" y="1591200"/>
            <a:ext cx="2124000" cy="3077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General: ordenar las posiciones por riesgo de retraso el día de la liberación y señalar cuáles seguir.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Específico 1: comparar 7 modelos × 4 balanceos × 4 optimizadores con el mismo presupuesto.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Específico 2: medir cuánto cuesta decidir con entidades nuevas (proveedor o material sin historia).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Específico 3: dejar el modelo servido en un tablero con predicción en vivo.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introducción y literatura; capítulo 4 (modelo base): data/modelos/metricas.csv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Estimar la probabilidad de llegar tarde y decidir con un umbral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1  ·  FORMULACIÓN MATEMÁTICA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50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Unidad: la posición i, el día t en que se libera su orden</a:t>
            </a:r>
          </a:p>
        </p:txBody>
      </p:sp>
      <p:pic>
        <p:nvPicPr>
          <p:cNvPr id="10" name="Picture 9" descr="f_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40000"/>
            <a:ext cx="1763061" cy="27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782000"/>
            <a:ext cx="50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x: 136 predictoras conocidas en t. y = 1 si la primera entrada de mercancía llega más de 1 día hábil después de la fecha prometida vigente al liberar.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304000"/>
            <a:ext cx="50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modelo estadístico: y | x es Bernoulli con probabilidad p(x)</a:t>
            </a:r>
          </a:p>
        </p:txBody>
      </p:sp>
      <p:pic>
        <p:nvPicPr>
          <p:cNvPr id="13" name="Picture 12" descr="f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2574000"/>
            <a:ext cx="3042000" cy="27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000" y="2916000"/>
            <a:ext cx="504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Se estima p(x) minimizando la log-pérdida, que es menos la log-verosimilitud de Bernoulli; la decisión ŷ compara p̂ con un umbral τ.</a:t>
            </a:r>
          </a:p>
        </p:txBody>
      </p:sp>
      <p:pic>
        <p:nvPicPr>
          <p:cNvPr id="15" name="Picture 14" descr="f_be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3456000"/>
            <a:ext cx="3668955" cy="27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8000" y="3851999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El umbral τ se elige en la validación 2025, maximizando F1; la prueba 2026 se usa una sola vez y no elige nada.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Métricas: AUC para ordenar por riesgo (no depende de τ) y F1 para la decisión.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000" y="1188000"/>
            <a:ext cx="2951999" cy="1655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2000" y="1295999"/>
            <a:ext cx="262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Tarea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22000" y="1555200"/>
            <a:ext cx="2627999" cy="12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Clasificación binaria supervisada: la etiqueta se observa después, cuando entra la mercancía, y el modelo aprende de las órdenes ya cerradas.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2951999"/>
            <a:ext cx="2951999" cy="176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22000" y="3060000"/>
            <a:ext cx="262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Por qué no regresión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22000" y="3319199"/>
            <a:ext cx="2627999" cy="1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La decisión del comprador es binaria: seguir la orden o no. Los días de retraso tienen colas muy largas y se usan como contexto; el modelo original del Entregable 3 los aprovecha con cortes ordenados.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1 y 2a (definición de la etiqueta y de la población)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Tablero: el contexto y la exploración, con filtros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PANTALLA EN VIVO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tablero_e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1296000"/>
            <a:ext cx="5616000" cy="351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1116000"/>
            <a:ext cx="5616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captura de respaldo, por si el tablero no carga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36000" y="1188000"/>
            <a:ext cx="2376000" cy="3528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8000" y="1295999"/>
            <a:ext cx="205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2E3BE"/>
                </a:solidFill>
                <a:latin typeface="Calibri"/>
              </a:rPr>
              <a:t>EN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8000" y="1548000"/>
            <a:ext cx="205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9E2D2"/>
                </a:solidFill>
                <a:latin typeface="Calibri"/>
              </a:rPr>
              <a:t>otif-compras-ml.onrender.com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8000" y="1835999"/>
            <a:ext cx="2051999" cy="28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1. Contexto: la fuente (SAP, 2021-2026), la población y la etiqueta.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2. EDA: el objetivo por clase y la tasa por mes.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3. Filtrar una línea de negocio: todo cambia con ella (de 25 % a 41 % de tarde).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4. Bajar a distribuciones y atípicos.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tablero, páginas Contexto y EDA (otif-compras-ml.onrender.com)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De SAP a 406.126 posiciones con una etiqueta y 136 predictoras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FUENTE, ESTRUCTURA Y PARTICIÓN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SAP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compras 2021-2026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42000" y="1188000"/>
            <a:ext cx="1512000" cy="68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2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490.310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2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posiciones con plazo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6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6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406.126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16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población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90000" y="1188000"/>
            <a:ext cx="1512000" cy="68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90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etiqueta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90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&gt; 1 día hábil tarde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64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136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64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predictoras al liberar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68000" y="2088000"/>
          <a:ext cx="4679998" cy="12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150"/>
                <a:gridCol w="1159646"/>
                <a:gridCol w="993982"/>
                <a:gridCol w="911150"/>
                <a:gridCol w="704070"/>
              </a:tblGrid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partición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uso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posiciones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órdenes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tarde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2021-2024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entrenar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271.391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70.233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34,0 %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elegir umbral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82.794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21.797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30,8 %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probar una vez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51.941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12.584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31,5 %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400000" y="2088000"/>
            <a:ext cx="3311999" cy="259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62000" y="2196000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Las 136 predictoras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2000" y="2455200"/>
            <a:ext cx="2987999" cy="21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83 numéricas: plazo, valor, liberación, historial del proveedor, stock, tasa de cambio.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42 categóricas de pocos valores: línea, clase, moneda, tipo de material.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11 entidades: proveedor, material, comprador, liberador, centro de costo y otras.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Solo lo que se conoce el día de la liberación.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000" y="3528000"/>
            <a:ext cx="4680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Las órdenes son la unidad independiente: 3,9 posiciones por orden. Ninguna orden cruza particiones y toda validación cruzada agrupa por orden.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La partición es por la fecha de la orden, no al azar (diapositiva 8).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2a (datos); diccionario de variables en data/diccionario.csv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Colas largas, vacíos con causa y atípicos que llegan más tarde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DESCRIPTIVA, FALTANTES Y ATÍPICOS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607997" cy="1655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8745"/>
                <a:gridCol w="781016"/>
                <a:gridCol w="937220"/>
                <a:gridCol w="781016"/>
              </a:tblGrid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mediana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asimetría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Valor para la liberación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24.807,3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6.967.970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294,2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Precio de la solicitud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499,0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364.340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247,5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Razón cantidad orden/solicitud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1,0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238,5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Razón al último precio del material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1,0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213,5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Razón precio orden/solicitud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1,0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78.327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190,0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Plazo original al crear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20,0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177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148,7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2951999"/>
            <a:ext cx="460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Por eso signo(x)·log(1 + |x|) antes de los modelos lineales: comprime las colas sin cambiar el orden. A los árboles no les cambia nada, porque solo usan el orden.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3600000"/>
            <a:ext cx="4608000" cy="1116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3708000"/>
            <a:ext cx="428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Atípicos multivariados (Isolation Forest)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00" y="3967200"/>
            <a:ext cx="4284000" cy="70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40,4 % de tarde en las atípicas contra 33,7 % en el resto: son señal, no ruido, y no se borran.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28000" y="1188000"/>
          <a:ext cx="3383999" cy="1655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8341"/>
                <a:gridCol w="742829"/>
                <a:gridCol w="742829"/>
              </a:tblGrid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vacíos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tasa (pp)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mc_aprov_especial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93,6 %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imp_categoria_orden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88,8 %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razon_cantidad_stock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76,3 %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mat_razon_ultimo_precio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51,9 %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-0,8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imp_n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50,3 %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2,9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imp_a_activo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50,3 %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2,9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328000" y="2951999"/>
            <a:ext cx="3384000" cy="176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90000" y="3060000"/>
            <a:ext cx="30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Faltantes estructurales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90000" y="3319199"/>
            <a:ext cx="3060000" cy="1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7 variables con más de 50 % de vacíos, y no son azar: faltan porque la orden no tiene solicitud o no tiene imputación. Se marcan con indicadores tiene_* y se imputa la mediana; Δ tasa es la diferencia de retraso entre filas con y sin dato.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2b (EDA): resultados/eda/univariado_numericas.csv, faltantes.csv, atipicos_if.csv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Ninguna variable sola pasa de 0,75 de AUC, y ninguna es fuga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RELACIONES Y FUGA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auc_univari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392000" cy="237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4284000"/>
            <a:ext cx="4392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El plazo hábil al liberar separa más (0,732): es la causa más directa del retraso y se conoce al liberar.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40000" y="1188000"/>
            <a:ext cx="3671999" cy="1655999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02000" y="1295999"/>
            <a:ext cx="334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Auditoría de fuga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02000" y="1555200"/>
            <a:ext cx="3347999" cy="12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Cada grupo de variables, revisado contra el día de la liberación.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Retiradas: los días de retraso, las fechas de entrada y de factura, los cambios de fecha posteriores y los maestros que el planificador ajusta después de ver retrasos.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0" y="2951999"/>
            <a:ext cx="3671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05731"/>
                </a:solidFill>
                <a:latin typeface="Calibri"/>
              </a:rPr>
              <a:t>Entidades: tasa encogida hacia su nivel superior</a:t>
            </a:r>
          </a:p>
        </p:txBody>
      </p:sp>
      <p:pic>
        <p:nvPicPr>
          <p:cNvPr id="15" name="Picture 14" descr="f_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6000" y="3204000"/>
            <a:ext cx="3528000" cy="4385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40000" y="3924000"/>
            <a:ext cx="3671999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Se calcula fuera de pliegue y agrupada por orden: una posición no ve su propio objetivo ni el de su orden. Un valor nuevo recibe la tasa de su padre (el proveedor, la de su región).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2b y 2c: resultados/eda/asociacion.csv; src/datos.py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tiempo importa: partir al azar mediría con datos ya vistos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DERIVA Y PARTICIÓN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ser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176000" cy="19342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3240000"/>
            <a:ext cx="4176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No es estacionaria: ADF no rechaza la raíz unitaria (p = 0,70) y KPSS rechaza la estacionariedad (p = 0,026). Proveedores nuevos: 6,6 % en 2025 y 11,1 % en 2026.</a:t>
            </a:r>
          </a:p>
        </p:txBody>
      </p:sp>
      <p:pic>
        <p:nvPicPr>
          <p:cNvPr id="11" name="Picture 10" descr="adversar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4000" y="1152000"/>
            <a:ext cx="3888000" cy="16704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4000" y="2951999"/>
            <a:ext cx="3888000" cy="17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Validación adversaria: un XGBoost intenta adivinar de qué conjunto viene cada posición.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Al azar no puede (0,504). Por fecha acierta siempre (1,000), y sigue en 0,999 sin las variables que fechan la fila: muchas derivas pequeñas (IVA, región del centro, mezcla de líneas) bastan para reconocer el año.</a:t>
            </a:r>
          </a:p>
          <a:p>
            <a:pPr algn="l">
              <a:spcAft>
                <a:spcPts val="500"/>
              </a:spcAft>
            </a:pPr>
            <a:r>
              <a:rPr sz="1050" b="1">
                <a:solidFill>
                  <a:srgbClr val="405731"/>
                </a:solidFill>
                <a:latin typeface="Calibri"/>
              </a:rPr>
              <a:t>Por eso: partición cronológica, validación por ventanas crecientes y reentrenar con 2021-2025 antes de la prueba.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2c (tiempo y fuga): resultados/eda/ y resultados/similitud/auc.csv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XGBoost: el log-odds como suma de árboles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FORMULACIÓN DEL ALGORITMO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modelo</a:t>
            </a:r>
          </a:p>
        </p:txBody>
      </p:sp>
      <p:pic>
        <p:nvPicPr>
          <p:cNvPr id="10" name="Picture 9" descr="f_mode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04000"/>
            <a:ext cx="2767578" cy="413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908000"/>
            <a:ext cx="52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Cada árbol f_m reparte el espacio de las predictoras en T hojas y da a cada hoja un peso w_j. Los árboles se construyen en secuencia: el m corrige lo que los m − 1 anteriores todavía predicen mal.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556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La pérdida: menos la log-verosimilitud de Bernoulli</a:t>
            </a:r>
          </a:p>
        </p:txBody>
      </p:sp>
      <p:pic>
        <p:nvPicPr>
          <p:cNvPr id="13" name="Picture 12" descr="f_perdi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2808000"/>
            <a:ext cx="3261418" cy="223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000" y="3131999"/>
            <a:ext cx="522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Es convexa en F y penaliza sin límite una probabilidad segura y equivocada: por eso produce probabilidades, no solo un orden.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000" y="3708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principio: descenso por gradiente en el espacio de funciones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3960000"/>
            <a:ext cx="5220000" cy="75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En vez de mover parámetros, cada iteración agrega una función (un árbol) en la dirección que más baja la pérdida (Friedman, 2001). XGBoost usa además la curvatura: un paso de Newton (Chen y Guestrin, 2016).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76000" y="1188000"/>
            <a:ext cx="2736000" cy="169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8000" y="1295999"/>
            <a:ext cx="241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Boosting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8000" y="1555200"/>
            <a:ext cx="2411999" cy="12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Árboles en secuencia, cada uno sobre los errores del anterior: baja el sesgo. Pide regularización para no sobreajustar.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76000" y="2988000"/>
            <a:ext cx="2736000" cy="172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8000" y="3096000"/>
            <a:ext cx="241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Bosque aleatorio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8000" y="3355200"/>
            <a:ext cx="2411999" cy="13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Árboles independientes y promediados: baja la varianza. Fue el segundo de los 112; la diferencia está en corregir el error en vez de promediarlo.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7 (fundamentos); Friedman (2001), Chen y Guestrin (2016)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Cada árbol minimiza una aproximación de segundo orden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PRINCIPIO DE OPTIMIZACIÓN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objetivo del árbol m: la pérdida más una penalización de su complejidad</a:t>
            </a:r>
          </a:p>
        </p:txBody>
      </p:sp>
      <p:pic>
        <p:nvPicPr>
          <p:cNvPr id="10" name="Picture 9" descr="f_ob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22000"/>
            <a:ext cx="2852645" cy="413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944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Taylor de segundo orden alrededor de la predicción actual F_{m−1}</a:t>
            </a:r>
          </a:p>
        </p:txBody>
      </p:sp>
      <p:pic>
        <p:nvPicPr>
          <p:cNvPr id="12" name="Picture 11" descr="f_t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2196000"/>
            <a:ext cx="2982163" cy="36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000" y="2700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Gradiente y hessiano de la log-pérdida: la derivación</a:t>
            </a:r>
          </a:p>
        </p:txBody>
      </p:sp>
      <p:pic>
        <p:nvPicPr>
          <p:cNvPr id="14" name="Picture 13" descr="f_deri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2970000"/>
            <a:ext cx="7740000" cy="445903"/>
          </a:xfrm>
          <a:prstGeom prst="rect">
            <a:avLst/>
          </a:prstGeom>
        </p:spPr>
      </p:pic>
      <p:pic>
        <p:nvPicPr>
          <p:cNvPr id="15" name="Picture 14" descr="f_g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999" y="3510000"/>
            <a:ext cx="2322438" cy="223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68000" y="3888000"/>
            <a:ext cx="4031999" cy="827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00" y="3996000"/>
            <a:ext cx="370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g_i, el gradiente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00" y="4255200"/>
            <a:ext cx="3707999" cy="41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El residuo con signo: positivo si el modelo sobreestima el riesgo de una posición que llegó a tiempo.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80000" y="3888000"/>
            <a:ext cx="4031999" cy="827999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2000" y="3996000"/>
            <a:ext cx="370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h_i, el hessiano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2000" y="4255200"/>
            <a:ext cx="3707999" cy="41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La varianza de Bernoulli: grande donde el modelo duda (p̂ cerca de 0,5) y pequeño donde ya está seguro.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7; Chen y Guestrin (2016)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Peso de hoja y ganancia de corte en forma cerrada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CÓMO SE CONSTRUYE CADA ÁRBOL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39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Peso óptimo de la hoja j</a:t>
            </a:r>
          </a:p>
        </p:txBody>
      </p:sp>
      <p:pic>
        <p:nvPicPr>
          <p:cNvPr id="10" name="Picture 9" descr="f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22000"/>
            <a:ext cx="1377890" cy="48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2015999"/>
            <a:ext cx="39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Con G_j y H_j la suma de g y h en la hoja, la aproximación es una parábola en w_j: su mínimo es un paso de Newton, el gradiente sobre la curvatura, encogido por 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736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Ganancia de partir una hoja en izquierda (L) y derecha (R): se corta solo si es positiva</a:t>
            </a:r>
          </a:p>
        </p:txBody>
      </p:sp>
      <p:pic>
        <p:nvPicPr>
          <p:cNvPr id="13" name="Picture 12" descr="f_gana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3006000"/>
            <a:ext cx="4671000" cy="48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000" y="3636000"/>
            <a:ext cx="46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Paso corto: cada árbol entra encogido por la tasa de aprendizaje</a:t>
            </a:r>
          </a:p>
        </p:txBody>
      </p:sp>
      <p:pic>
        <p:nvPicPr>
          <p:cNvPr id="15" name="Picture 14" descr="f_e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3888000"/>
            <a:ext cx="1506079" cy="223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752000" y="1188000"/>
            <a:ext cx="3960000" cy="1440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3999" y="1295999"/>
            <a:ext cx="36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Búsqueda por histograma (hist)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3999" y="1555200"/>
            <a:ext cx="3636000" cy="10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Cada predictora se discretiza en a lo sumo 256 tramos y la ganancia se evalúa solo en sus bordes: buscar el mejor corte es recorrer un histograma, no ordenar las filas.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2000" y="3671999"/>
            <a:ext cx="3960000" cy="1007999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2000" y="3736799"/>
            <a:ext cx="36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405731"/>
                </a:solidFill>
                <a:latin typeface="Calibri"/>
              </a:rPr>
              <a:t>Contraste: la logística  </a:t>
            </a:r>
            <a:r>
              <a:rPr sz="1050" b="0">
                <a:solidFill>
                  <a:srgbClr val="1A1A1A"/>
                </a:solidFill>
                <a:latin typeface="Calibri"/>
              </a:rPr>
              <a:t>minimiza la misma log-pérdida con una sola recta, convexa y con un único óptimo. No ve interacciones ni umbrales sin construirlos; XGBoost los encuentra con los cortes.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7; Chen y Guestrin (2016)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ajuste crece casi lineal en n (exponente 0,91)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SUPUESTOS, REGULARIZACIÓN, COMPLEJIDAD Y GENERALIZACIÓN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391999" cy="2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4000"/>
                <a:gridCol w="1033411"/>
                <a:gridCol w="1894588"/>
              </a:tblGrid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hiperparámetro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en la fórmula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qué controla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n_estimators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capacidad y costo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learning_rate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η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pasos cortos, mejor generalización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T ≤ 2^D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interacciones de hasta D variables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min_child_weight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H_j ≥ c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hojas con suficiente evidencia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subsample, colsample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filas y columnas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azar que decorrelaciona árboles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reg_lambda, gamma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λ, γ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encoge pesos, cobra hojas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 9" descr="complej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000" y="1152000"/>
            <a:ext cx="3671999" cy="267462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68000" y="3348000"/>
            <a:ext cx="2664000" cy="136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3456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Supuestos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00" y="3715200"/>
            <a:ext cx="2340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Filas independientes dado x (por eso los pliegues agrupan por orden); la relación de 2021-2025 sigue valiendo en 2026; no supone linealidad ni normalidad.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0" y="3348000"/>
            <a:ext cx="2664000" cy="136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1999" y="3456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Complejidad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999" y="3715200"/>
            <a:ext cx="2340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Ajuste O(M·D·n·d′) por histograma; predicción O(M·D). Medido: 162 s con 311.865 filas; 16,8 ms por cada 1.000 predicciones.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2000" y="3348000"/>
            <a:ext cx="2700000" cy="1368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3999" y="3456000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Generalización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3999" y="3715200"/>
            <a:ext cx="2376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Regularización más validación por ventanas en el tiempo; una entidad nueva recibe la tasa de su nivel superior.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7: resultados/complejidad.csv (tiempos medidos en srvgdai)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Hacia adelante en el tiempo, con el mismo presupuesto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DISEÑO EXPERIMENTAL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f_1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224000"/>
            <a:ext cx="4608000" cy="22031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8000" y="1674000"/>
            <a:ext cx="360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6000" y="16740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24000" y="16740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38000" y="16848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22-S1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000" y="1897200"/>
            <a:ext cx="738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4000" y="18972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02000" y="18972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5999" y="19080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22-S2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2120400"/>
            <a:ext cx="1116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02000" y="21204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80000" y="21204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94000" y="21312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23-S1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2343600"/>
            <a:ext cx="1494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80000" y="23436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58000" y="23436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000" y="23544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23-S2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8000" y="2566800"/>
            <a:ext cx="1872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58000" y="25668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36000" y="25668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0000" y="25776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24-S1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000" y="2790000"/>
            <a:ext cx="2250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36000" y="27900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14000" y="27900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28000" y="28008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24-S2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8000" y="3013200"/>
            <a:ext cx="2628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14000" y="30132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92000" y="30132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06000" y="30240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25-S1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8000" y="3236400"/>
            <a:ext cx="3006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492000" y="32364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870000" y="32364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84000" y="32472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25-S2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000" y="3546000"/>
            <a:ext cx="468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405731"/>
                </a:solidFill>
                <a:latin typeface="Calibri"/>
              </a:rPr>
              <a:t>verde: entrena   </a:t>
            </a:r>
            <a:r>
              <a:rPr sz="950" b="0">
                <a:solidFill>
                  <a:srgbClr val="5A5A5A"/>
                </a:solidFill>
                <a:latin typeface="Calibri"/>
              </a:rPr>
              <a:t>gris: valida adentro (elige hiperparámetros)   </a:t>
            </a:r>
            <a:r>
              <a:rPr sz="950" b="1">
                <a:solidFill>
                  <a:srgbClr val="B08A2D"/>
                </a:solidFill>
                <a:latin typeface="Calibri"/>
              </a:rPr>
              <a:t>oro: evalúa (bucle externo)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000" y="3816000"/>
            <a:ext cx="4680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Bucle externo: 8 semestres, cada uno predicho con todo lo anterior. Bucle interno: el último semestre de cada ventana elige los hiperparámetros. La prueba 2026 no entra en nada de esto.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00000" y="1188000"/>
            <a:ext cx="3311999" cy="1655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62000" y="1295999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4 balanceos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62000" y="1555200"/>
            <a:ext cx="2987999" cy="12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Ninguno, SMOTE, ADASYN y pesos de clase, siempre dentro del pipeline y solo sobre el entrenamiento de cada ventana: lo sintético nunca llega a la evaluación.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00000" y="2951999"/>
            <a:ext cx="3311999" cy="176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62000" y="3060000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4 optimizadores, mismo presupuesto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62000" y="3319199"/>
            <a:ext cx="2987999" cy="1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20 evaluaciones por combinación y bloque para Grid, Random, Optuna (TPE) y DEAP (genético). Medias y desviaciones salen de los 8 bloques externos.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5 (las 112): src/validacion.py, src/experimentos.py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Implementación: un pipeline, un espacio de búsqueda y pruebas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IMPLEMENTACIÓN E HIPERPARÁMETROS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535999" cy="17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941"/>
                <a:gridCol w="1423058"/>
                <a:gridCol w="1512000"/>
              </a:tblGrid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hiperparámetro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espacio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elegido (8 bloques)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n_estimators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100 a 600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266 a 587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learning_rate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0,01 a 0,3 (log)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0,02 a 0,12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 a 10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4 a 10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subsample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 a 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0,52 a 0,94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colsample_bytree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0,3 a 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0,31 a 0,86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min_child_weight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 a 100 (log)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8,91 a 38,19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3060000"/>
            <a:ext cx="4536000" cy="827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Con un semestre de entrenamiento gana un modelo de muchos árboles poco profundos; con más datos la profundidad sube a 7-10 y el submuestreo baja. Cerca del óptimo la superficie es plana: configuraciones distintas dan AUC a milésimas.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3960000"/>
            <a:ext cx="4536000" cy="756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000" y="4024800"/>
            <a:ext cx="4176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405731"/>
                </a:solidFill>
                <a:latin typeface="Calibri"/>
              </a:rPr>
              <a:t>Reproducible:  </a:t>
            </a:r>
            <a:r>
              <a:rPr sz="1050" b="0">
                <a:solidFill>
                  <a:srgbClr val="1A1A1A"/>
                </a:solidFill>
                <a:latin typeface="Calibri"/>
              </a:rPr>
              <a:t>semilla 2026; un JSON por trabajo con parámetros y métricas; 201 horas de CPU en el servidor del grupo, 30 trabajos a la vez.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56000" y="1188000"/>
            <a:ext cx="3456000" cy="172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8000" y="1295999"/>
            <a:ext cx="313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Un solo pipeline de scikit-learn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8000" y="1555200"/>
            <a:ext cx="3131999" cy="13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preprocesador (log, imputación, one-hot, codificación por objetivo) → balanceo → modelo;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el preprocesador se ajusta solo con el entrenamiento de cada ventana.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6000" y="3024000"/>
            <a:ext cx="3456000" cy="1692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8000" y="3132000"/>
            <a:ext cx="313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Pruebas e integración continua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8000" y="3391200"/>
            <a:ext cx="3131999" cy="12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57 pruebas con pytest (codificación fuera de pliegue, series, modelo servido, tablero, que no se publiquen identificadores) que corren en GitHub en cada cambio.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src/experimentos.py (ESPACIOS), resultados/experimentos/trabajos/*.json, tests/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Optuna llega antes; con 20 evaluaciones empatan los cuatro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PANTALLA EN VIVO: LAS 112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optimizad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536000" cy="307800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48000" y="1224000"/>
          <a:ext cx="3563998" cy="1187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0048"/>
                <a:gridCol w="1651609"/>
                <a:gridCol w="782341"/>
              </a:tblGrid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optimizador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perdido a 5 evaluaciones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 20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0,0064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0,0011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DEAP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0,0125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0,0013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0,0148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0,0030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Grid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0,0417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0,0034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148000" y="2556000"/>
            <a:ext cx="3564000" cy="2160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10000" y="2664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2E3BE"/>
                </a:solidFill>
                <a:latin typeface="Calibri"/>
              </a:rPr>
              <a:t>EN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0000" y="291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9E2D2"/>
                </a:solidFill>
                <a:latin typeface="Calibri"/>
              </a:rPr>
              <a:t>otif-compras-ml.onrender.com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0000" y="3204000"/>
            <a:ext cx="3240000" cy="1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1. Modelos → Las 112 combinaciones.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2. Tabla de líderes: las mejores combinaciones, con media ± desviación del bucle externo.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3. Mapa balanceo × optimizador de XGBoost: el balanceo casi no mueve el AUC.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tablero, página Modelos (otif-compras-ml.onrender.com); data/modelos/curvas_optimizador.csv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XGBoost gana los 8 bloques: AUC 0,852 contra 0,843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MÉTRICAS, LÍNEA BASE Y COMPARACIÓN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896000" cy="20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2000"/>
                <a:gridCol w="994500"/>
                <a:gridCol w="612000"/>
                <a:gridCol w="535500"/>
                <a:gridCol w="612000"/>
              </a:tblGrid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modelo (mejor combinación)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± desv.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ms / 1.000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XGBoost · sin balanceo · 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0,852 ± 0,020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0,778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0,676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17,3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Random Forest · SMOTE · Grid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0,843 ± 0,023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0,761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31,8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Logística (SGD) · pesos · Grid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0,839 ± 0,025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0,751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SVM lineal (SGD) · pesos · Random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0,839 ± 0,024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0,749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0,659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Árbol · sin balanceo · 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0,810 ± 0,020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0,715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0,634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KNN (PCA 30) · SMOTE · Optuna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0,781 ± 0,044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0,601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1.414,6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Naive Bayes · SMOTE · DEAP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0,735 ± 0,069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0,566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0,556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29,4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3311999"/>
            <a:ext cx="489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AUC ordena por riesgo sin depender del umbral; PR-AUC atiende a la clase de interés; F1 mide la decisión al umbral; Brier y ECE dicen si la probabilidad es creíble.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68000" y="3671999"/>
          <a:ext cx="4895998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557"/>
                <a:gridCol w="1444721"/>
                <a:gridCol w="722360"/>
                <a:gridCol w="722360"/>
              </a:tblGrid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prueba 2026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[BCa 95 %]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ECE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regla del proveedor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0,670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0,509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0,055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regresión logística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0,649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0,021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XGBoost, con Platt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0,848 [0,835; 0,860]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0,675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0,022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616000" y="1188000"/>
            <a:ext cx="3096000" cy="244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78000" y="1295999"/>
            <a:ext cx="277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Cómo leer la tabla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78000" y="1555200"/>
            <a:ext cx="2771999" cy="203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Media y desviación de los 8 bloques externos: cada cifra se midió en un semestre que el modelo no vio.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La línea base son la regla del proveedor (su tasa previa de retraso) y la logística, medidas en 2026.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KNN predice 80 veces más lento que XGBoost: compara contra todo el entrenamiento.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16000" y="3744000"/>
            <a:ext cx="3096000" cy="97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78000" y="3852000"/>
            <a:ext cx="277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De la validación a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8000" y="4111200"/>
            <a:ext cx="2771999" cy="55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AUC interno 0,854, bloques externos 0,852, prueba 2026 0,848: no cae.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5 y 6: data/modelos/lideres.csv; resultados/prueba_2026/metricas.csv, brecha.csv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Tablero: una predicción en vivo, y la prueba de diferencias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PANTALLA EN VIVO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tablero_model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1296000"/>
            <a:ext cx="3888000" cy="243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1116000"/>
            <a:ext cx="3888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captura de respaldo, por si el tablero no carga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3960000"/>
            <a:ext cx="4104000" cy="75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000" y="4024800"/>
            <a:ext cx="3744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2E3BE"/>
                </a:solidFill>
                <a:latin typeface="Calibri"/>
              </a:rPr>
              <a:t>En vivo:  </a:t>
            </a:r>
            <a:r>
              <a:rPr sz="1050" b="0">
                <a:solidFill>
                  <a:srgbClr val="FFFFFF"/>
                </a:solidFill>
                <a:latin typeface="Calibri"/>
              </a:rPr>
              <a:t>cargar una posición real, cambiar el plazo hábil al liberar y ver cómo se mueven el riesgo y sus contribuciones.</a:t>
            </a:r>
          </a:p>
        </p:txBody>
      </p:sp>
      <p:pic>
        <p:nvPicPr>
          <p:cNvPr id="13" name="Picture 12" descr="rangos_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6000" y="972000"/>
            <a:ext cx="3744000" cy="23795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24000" y="3564000"/>
            <a:ext cx="388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A1A1A"/>
                </a:solidFill>
                <a:latin typeface="Calibri"/>
              </a:rPr>
              <a:t>Friedman: χ² = 45,6, p &lt; 0,001: los 7 modelos no rinden igual.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Calibri"/>
              </a:rPr>
              <a:t>Nemenyi no separa a XGBoost de la logística ni del bosque (diferencia crítica 3,19); Wilcoxon por pares sí: gana los 8 bloques, p de Holm = 0,047.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Calibri"/>
              </a:rPr>
              <a:t>Dentro de cada bloque, DeLong con Holm: supera al bosque en 6 de 8 y a la logística en 7, sin perder en ninguno. Ventaja 0,009-0,012 de AUC, con BCa por órdenes lejos de cero.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tablero, página Modelos; data/modelos/friedman.csv, wilcoxon.csv; resultados/pruebas/resumen.csv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Sobreajuste bajo: 0,003 de AUC entre interno y externo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ANÁLISIS DE ERRORES Y SOBREAJUSTE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interno_exter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3960000" cy="2188421"/>
          </a:xfrm>
          <a:prstGeom prst="rect">
            <a:avLst/>
          </a:prstGeom>
        </p:spPr>
      </p:pic>
      <p:pic>
        <p:nvPicPr>
          <p:cNvPr id="10" name="Picture 9" descr="aprendizaj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6000" y="1152000"/>
            <a:ext cx="2232000" cy="1584550"/>
          </a:xfrm>
          <a:prstGeom prst="rect">
            <a:avLst/>
          </a:prstGeom>
        </p:spPr>
      </p:pic>
      <p:pic>
        <p:nvPicPr>
          <p:cNvPr id="11" name="Picture 10" descr="calibrac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0" y="1152000"/>
            <a:ext cx="1908000" cy="1771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8000" y="3348000"/>
            <a:ext cx="396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El bloque 2025-S1 baja de 0,894 adentro a 0,846 afuera: es el semestre en que cambia la mezcla de 2025 (diapositiva 8), no un modelo que memoriza.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6000" y="3348000"/>
            <a:ext cx="4176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Logística (modelo base): 0,868 en entrenamiento y 0,830 en validación con todas las filas; bien calibrada en 2026 (ECE 0,021).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000" y="3996000"/>
            <a:ext cx="8243999" cy="61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000" y="4060800"/>
            <a:ext cx="788399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2E3BE"/>
                </a:solidFill>
                <a:latin typeface="Calibri"/>
              </a:rPr>
              <a:t>Errores de XGBoost en 2026:  </a:t>
            </a:r>
            <a:r>
              <a:rPr sz="1050" b="0">
                <a:solidFill>
                  <a:srgbClr val="FFFFFF"/>
                </a:solidFill>
                <a:latin typeface="Calibri"/>
              </a:rPr>
              <a:t>de 16.374 tardías marcó 11.341 (69 %), con 5.889 falsas alarmas. AUC 0,856 con todo conocido y 0,821 con alguna entidad nueva; ganadería, 0,712. El falso negativo típico tenía plazo amplio y un proveedor puntual: el retraso se decide en la ejecución.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5 y 6: resultados/experimentos/por_bloque.csv, resultados/prueba_2026/segmentos.csv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Por qué XGBoost y no la logística, que es más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PARSIMONIA CON CIFRAS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245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4000" y="1188000"/>
            <a:ext cx="4248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Significativa. 2026: 0,848 contra 0,825, Δ 0,023 [0,017; 0,030], DeLong z = 22,5. Bloques: gana 8 de 8, Wilcoxon-Holm p = 0,047, Cliff 0,34.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1947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000" y="1890000"/>
            <a:ext cx="4248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Material. Con el 20 % de alertas atrapa 8.242 tardías contra 7.895: 35 más por mes. F1 0,675 contra 0,649.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2649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000" y="2592000"/>
            <a:ext cx="4248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Forma. Sin plazo, el riesgo sube 3,4 de logit en Generales y 2,4 en Producción Cluster; la logística da una sola pendiente y una caída suave cerca de cero.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3351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4000" y="3294000"/>
            <a:ext cx="4248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Costo. Un ajuste: 3,2 min contra 12 s; mil predicciones: 17 ms contra 0,7. SHAP da la lectura.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4053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4000" y="3996000"/>
            <a:ext cx="4248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Parsimonia. Se acepta lo complejo solo si gana significativa y materialmente: se cumple. La logística queda como base legible.</a:t>
            </a:r>
          </a:p>
        </p:txBody>
      </p:sp>
      <p:pic>
        <p:nvPicPr>
          <p:cNvPr id="19" name="Picture 18" descr="forma_plaz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00" y="1152000"/>
            <a:ext cx="3600000" cy="2640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6: resultados/prueba_2026/diferencias.csv, presupuesto.csv, forma_clase.csv, costo.csv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retraso se puede anticipar el día de la liberación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6  ·  CONCLUSIONES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281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4000" y="1224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Se puede ordenar por riesgo al liberar: AUC 0,852 medido hacia adelante en el tiempo, contra 0,670 de la regla del proveedor en 2026.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1965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000" y="1908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La señal está en el plazo, el historial del proveedor y las entidades; ninguna variable sola basta.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2649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000" y="2591999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XGBoost gana de forma significativa y material: en 2026, AUC 0,848 contra 0,825 de la logística, y más tardías atrapadas con las mismas alertas.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3333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4000" y="3276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El optimizador importa con poco presupuesto; el balanceo casi no mueve el AUC.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4017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4000" y="3960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La partición cronológica no es un detalle: al azar, el problema parecería más fácil de lo que es.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544000" y="1224000"/>
          <a:ext cx="3168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188000"/>
              </a:tblGrid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objetivo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cumplido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comparar las 112 con el mismo presupuesto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costo de las entidades nuevas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AUC 0,82 contra 0,86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modelo servido en el tablero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sí, XGBoost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544000" y="2844000"/>
            <a:ext cx="3168000" cy="18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2908800"/>
            <a:ext cx="2808000" cy="17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2E3BE"/>
                </a:solidFill>
                <a:latin typeface="Calibri"/>
              </a:rPr>
              <a:t>Para el negocio:  </a:t>
            </a:r>
            <a:r>
              <a:rPr sz="1150" b="0">
                <a:solidFill>
                  <a:srgbClr val="FFFFFF"/>
                </a:solidFill>
                <a:latin typeface="Calibri"/>
              </a:rPr>
              <a:t>marcando el 33 % de las posiciones, XGBoost ve venir el 69 % de las tardías de 2026. El comprador puede concentrar el seguimiento en un tercio de las órdenes.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2 a 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Límites: deriva, etiqueta que madura y una sola empresa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6  ·  LIMITACIONES Y MEJORAS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188000"/>
            <a:ext cx="2664000" cy="352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1295999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Teóricas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000" y="1555200"/>
            <a:ext cx="2340000" cy="31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Independencia dado x: las posiciones de una orden se parecen; se protege agrupando, no se modela.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Estabilidad: el modelo supone que la relación de 2021-2025 vale en 2026.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Una sola etiqueta binaria desperdicia los días de retraso.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0000" y="1188000"/>
            <a:ext cx="2664000" cy="352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999" y="1295999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Empíricas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999" y="1555200"/>
            <a:ext cx="2340000" cy="31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Deriva: 2025 se distingue de 2021-2024 casi por completo.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La etiqueta de lo más reciente madura tarde (censura al final del periodo).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Maestros en foto actual, no con su vigencia histórica.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Arranque en frío: 11,1 % de proveedores nuevos en 2026.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Una sola empresa: la generalización a otros grupos no está probada.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2000" y="1188000"/>
            <a:ext cx="2700000" cy="3528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3999" y="1295999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Mejoras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3999" y="1555200"/>
            <a:ext cx="2376000" cy="31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Reentrenar por semestre y vigilar la deriva con la validación adversaria.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Efectos aleatorios por proveedor y material para el arranque en frío.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Usar los días de retraso con cortes ordenados (el modelo original del Entregable 3).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Maestros con vigencia por fecha.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2c, 5 y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21 /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057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8000" y="503999"/>
            <a:ext cx="1404000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80" y="687600"/>
            <a:ext cx="1067040" cy="799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8000" y="2015999"/>
            <a:ext cx="79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Preguntas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000" y="2664000"/>
            <a:ext cx="827999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000" y="2880000"/>
            <a:ext cx="7920000" cy="10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Repositorio   github.com/ddcarbono/otif-compras-ml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Libro            ddcarbono.github.io/otif-compras-ml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Tablero         otif-compras-ml.onrender.com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4392000"/>
            <a:ext cx="79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2E3BE"/>
                </a:solidFill>
                <a:latin typeface="Calibri"/>
              </a:rPr>
              <a:t>Responden los dos autores (criterio 7: dominio individual).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